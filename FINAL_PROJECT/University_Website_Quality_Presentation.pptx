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84" r:id="rId54"/>
    <p:sldId id="266" r:id="rId17"/>
    <p:sldId id="267" r:id="rId18"/>
    <p:sldId id="268" r:id="rId19"/>
    <p:sldId id="285" r:id="rId55"/>
    <p:sldId id="269" r:id="rId20"/>
    <p:sldId id="270" r:id="rId21"/>
    <p:sldId id="271" r:id="rId22"/>
    <p:sldId id="272" r:id="rId23"/>
    <p:sldId id="273" r:id="rId24"/>
    <p:sldId id="274" r:id="rId25"/>
    <p:sldId id="286" r:id="rId56"/>
    <p:sldId id="287" r:id="rId57"/>
    <p:sldId id="275" r:id="rId26"/>
    <p:sldId id="276" r:id="rId27"/>
    <p:sldId id="277" r:id="rId28"/>
    <p:sldId id="288" r:id="rId5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Proxima Nova"/>
      <p:regular r:id="rId39"/>
      <p:bold r:id="rId40"/>
      <p:italic r:id="rId41"/>
      <p:boldItalic r:id="rId42"/>
    </p:embeddedFont>
    <p:embeddedFont>
      <p:font typeface="Proxima Nova Semibold"/>
      <p:regular r:id="rId43"/>
      <p:bold r:id="rId44"/>
      <p:boldItalic r:id="rId45"/>
    </p:embeddedFont>
    <p:embeddedFont>
      <p:font typeface="Fira Sans Extra Condensed"/>
      <p:regular r:id="rId46"/>
      <p:bold r:id="rId47"/>
      <p:italic r:id="rId48"/>
      <p:boldItalic r:id="rId49"/>
    </p:embeddedFont>
    <p:embeddedFont>
      <p:font typeface="Fira Sans Extra Condensed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EB27C0-A441-4D65-8F88-A9ED1D9A0A8B}">
  <a:tblStyle styleId="{E7EB27C0-A441-4D65-8F88-A9ED1D9A0A8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FBE7"/>
          </a:solidFill>
        </a:fill>
      </a:tcStyle>
    </a:wholeTbl>
    <a:band1H>
      <a:tcTxStyle/>
      <a:tcStyle>
        <a:fill>
          <a:solidFill>
            <a:srgbClr val="F5F7CB"/>
          </a:solidFill>
        </a:fill>
      </a:tcStyle>
    </a:band1H>
    <a:band2H>
      <a:tcTxStyle/>
    </a:band2H>
    <a:band1V>
      <a:tcTxStyle/>
      <a:tcStyle>
        <a:fill>
          <a:solidFill>
            <a:srgbClr val="F5F7C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font" Target="fonts/Roboto-regular.fntdata"/><Relationship Id="rId36" Type="http://schemas.openxmlformats.org/officeDocument/2006/relationships/font" Target="fonts/Roboto-bold.fntdata"/><Relationship Id="rId37" Type="http://schemas.openxmlformats.org/officeDocument/2006/relationships/font" Target="fonts/Roboto-italic.fntdata"/><Relationship Id="rId38" Type="http://schemas.openxmlformats.org/officeDocument/2006/relationships/font" Target="fonts/Roboto-boldItalic.fntdata"/><Relationship Id="rId39" Type="http://schemas.openxmlformats.org/officeDocument/2006/relationships/font" Target="fonts/ProximaNova-regular.fntdata"/><Relationship Id="rId40" Type="http://schemas.openxmlformats.org/officeDocument/2006/relationships/font" Target="fonts/ProximaNova-bold.fntdata"/><Relationship Id="rId41" Type="http://schemas.openxmlformats.org/officeDocument/2006/relationships/font" Target="fonts/ProximaNova-italic.fntdata"/><Relationship Id="rId42" Type="http://schemas.openxmlformats.org/officeDocument/2006/relationships/font" Target="fonts/ProximaNova-boldItalic.fntdata"/><Relationship Id="rId43" Type="http://schemas.openxmlformats.org/officeDocument/2006/relationships/font" Target="fonts/ProximaNovaSemibold-regular.fntdata"/><Relationship Id="rId44" Type="http://schemas.openxmlformats.org/officeDocument/2006/relationships/font" Target="fonts/ProximaNovaSemibold-bold.fntdata"/><Relationship Id="rId45" Type="http://schemas.openxmlformats.org/officeDocument/2006/relationships/font" Target="fonts/ProximaNovaSemibold-boldItalic.fntdata"/><Relationship Id="rId46" Type="http://schemas.openxmlformats.org/officeDocument/2006/relationships/font" Target="fonts/FiraSansExtraCondensed-regular.fntdata"/><Relationship Id="rId47" Type="http://schemas.openxmlformats.org/officeDocument/2006/relationships/font" Target="fonts/FiraSansExtraCondensed-bold.fntdata"/><Relationship Id="rId48" Type="http://schemas.openxmlformats.org/officeDocument/2006/relationships/font" Target="fonts/FiraSansExtraCondensed-italic.fntdata"/><Relationship Id="rId49" Type="http://schemas.openxmlformats.org/officeDocument/2006/relationships/font" Target="fonts/FiraSansExtraCondensed-boldItalic.fntdata"/><Relationship Id="rId50" Type="http://schemas.openxmlformats.org/officeDocument/2006/relationships/font" Target="fonts/FiraSansExtraCondensedSemiBold-regular.fntdata"/><Relationship Id="rId51" Type="http://schemas.openxmlformats.org/officeDocument/2006/relationships/font" Target="fonts/FiraSansExtraCondensedSemiBold-bold.fntdata"/><Relationship Id="rId52" Type="http://schemas.openxmlformats.org/officeDocument/2006/relationships/font" Target="fonts/FiraSansExtraCondensedSemiBold-italic.fntdata"/><Relationship Id="rId53" Type="http://schemas.openxmlformats.org/officeDocument/2006/relationships/font" Target="fonts/FiraSansExtraCondensedSemiBold-boldItalic.fntdata"/><Relationship Id="rId54" Type="http://schemas.openxmlformats.org/officeDocument/2006/relationships/slide" Target="slides/slide11.xml"/><Relationship Id="rId55" Type="http://schemas.openxmlformats.org/officeDocument/2006/relationships/slide" Target="slides/slide15.xml"/><Relationship Id="rId56" Type="http://schemas.openxmlformats.org/officeDocument/2006/relationships/slide" Target="slides/slide22.xml"/><Relationship Id="rId57" Type="http://schemas.openxmlformats.org/officeDocument/2006/relationships/slide" Target="slides/slide23.xml"/><Relationship Id="rId58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8b668af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8b668af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457200" y="658551"/>
            <a:ext cx="8229600" cy="1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6842"/>
              <a:buNone/>
            </a:pPr>
            <a:r>
              <a:rPr b="1" lang="en-US" sz="38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 Machine Learning Framework for Predicting and Ranking the Quality of University Websites</a:t>
            </a:r>
            <a:endParaRPr/>
          </a:p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457200" y="27456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5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Machine Learning </a:t>
            </a:r>
            <a:r>
              <a:rPr lang="en-US" sz="1500">
                <a:solidFill>
                  <a:srgbClr val="434343"/>
                </a:solidFill>
              </a:rPr>
              <a:t>Laboratory</a:t>
            </a:r>
            <a:r>
              <a:rPr lang="en-US" sz="15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 ·   CSE 4112</a:t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3749039" y="2304200"/>
            <a:ext cx="1645800" cy="58800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775175" y="2882225"/>
            <a:ext cx="3502500" cy="16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2A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Faisal Ahmed 			2107061    </a:t>
            </a:r>
            <a:endParaRPr b="1" i="0" u="none" cap="none" strike="noStrike">
              <a:solidFill>
                <a:srgbClr val="0E2A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2A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Shariar Hossain 		2107066  </a:t>
            </a:r>
            <a:endParaRPr b="1" i="0" u="none" cap="none" strike="noStrike">
              <a:solidFill>
                <a:srgbClr val="0E2A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2A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Rubayet Nabil 		2107073</a:t>
            </a:r>
            <a:endParaRPr b="1">
              <a:solidFill>
                <a:srgbClr val="0E2A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2A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Khadimul Islam Mahi 		2107076   </a:t>
            </a:r>
            <a:endParaRPr b="1" i="0" u="none" cap="none" strike="noStrike">
              <a:solidFill>
                <a:srgbClr val="0E2A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2A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Abhijeet Deb Nath 		2107083  </a:t>
            </a:r>
            <a:endParaRPr b="1" i="0" u="none" cap="none" strike="noStrike">
              <a:solidFill>
                <a:srgbClr val="0E2A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2A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Afifa Sultana Offa 		2107087</a:t>
            </a:r>
            <a:endParaRPr b="1">
              <a:solidFill>
                <a:srgbClr val="0E2A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5"/>
          <p:cNvSpPr txBox="1"/>
          <p:nvPr>
            <p:ph type="ctrTitle"/>
          </p:nvPr>
        </p:nvSpPr>
        <p:spPr>
          <a:xfrm>
            <a:off x="609600" y="1831400"/>
            <a:ext cx="8229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16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Seven-Dimension Scoring Model and a Comparative Study of Twelve Regression Algorithms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030425" y="2558195"/>
            <a:ext cx="24768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00" lIns="52425" spcFirstLastPara="1" rIns="52425" wrap="square" tIns="26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br>
              <a:rPr lang="en-US" sz="160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3"/>
          </a:p>
        </p:txBody>
      </p:sp>
      <p:sp>
        <p:nvSpPr>
          <p:cNvPr id="65" name="Google Shape;65;p15"/>
          <p:cNvSpPr txBox="1"/>
          <p:nvPr/>
        </p:nvSpPr>
        <p:spPr>
          <a:xfrm>
            <a:off x="5184400" y="2586425"/>
            <a:ext cx="35025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00" lIns="52425" spcFirstLastPara="1" rIns="52425" wrap="square" tIns="26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To:</a:t>
            </a:r>
            <a:endParaRPr sz="803"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Dr. Muhammad Aminul Haque Akhand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Professor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Department of CSE,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KUET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Nabil Faiyaz Sadi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Lecturer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CSE,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KUET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5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4626365" y="2425605"/>
            <a:ext cx="27900" cy="1838700"/>
          </a:xfrm>
          <a:prstGeom prst="straightConnector1">
            <a:avLst/>
          </a:prstGeom>
          <a:noFill/>
          <a:ln cap="flat" cmpd="sng" w="382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" name="Google Shape;67;p15"/>
          <p:cNvSpPr txBox="1"/>
          <p:nvPr/>
        </p:nvSpPr>
        <p:spPr>
          <a:xfrm>
            <a:off x="3171087" y="2586436"/>
            <a:ext cx="1223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200" lIns="52425" spcFirstLastPara="1" rIns="52425" wrap="square" tIns="2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88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688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385450" y="4463300"/>
            <a:ext cx="618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KUET</a:t>
            </a:r>
            <a:endParaRPr sz="13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Agenda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57200" y="1225296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12064" y="1275588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1042416" y="127558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Related works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57200" y="1920240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12064" y="1970532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1042416" y="197053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Dataset and preprocessing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57200" y="2615184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12064" y="2665476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1042416" y="266547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scoring model and its label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57200" y="3310128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512064" y="3360420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1042416" y="33604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Train / test protocol and models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57200" y="4005072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12064" y="4055363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1042416" y="4055363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Results and model comparison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4709160" y="1225296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764024" y="1275588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294376" y="1275588"/>
            <a:ext cx="338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Why the algorithms differ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709160" y="1920240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764024" y="1970532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294376" y="197053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Bangladesh case study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709160" y="2615184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764024" y="2665476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294376" y="266547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Sensitivity, ablation and rankings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709160" y="3310128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764024" y="3360420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5294376" y="33604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Work distribution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4709160" y="4005072"/>
            <a:ext cx="420624" cy="347472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764024" y="4055363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5294376" y="4055363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Limitations and conclusion</a:t>
            </a:r>
            <a:endParaRPr/>
          </a:p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6667"/>
              <a:buNone/>
            </a:pPr>
            <a:r>
              <a:rPr lang="en-US" sz="2400">
                <a:solidFill>
                  <a:srgbClr val="212121"/>
                </a:solidFill>
              </a:rPr>
              <a:t>The Problem and Our Two-Stage Framework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57200" y="102412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 university website is often the only thing a prospective student sees before applying. Can its quality be measured automatically?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457200" y="1744296"/>
            <a:ext cx="2331600" cy="75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57200" y="1744296"/>
            <a:ext cx="2331600" cy="26700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66928" y="1821732"/>
            <a:ext cx="211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566928" y="1995962"/>
            <a:ext cx="211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69 collected landing-page attributes 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2926084" y="2044359"/>
            <a:ext cx="365700" cy="15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429005" y="1744296"/>
            <a:ext cx="1920300" cy="75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429005" y="1744296"/>
            <a:ext cx="1920300" cy="26700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538733" y="1821732"/>
            <a:ext cx="17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B947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3393525" y="1995950"/>
            <a:ext cx="1920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Transparent seven-dimension scoring model 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532128" y="2044359"/>
            <a:ext cx="365700" cy="15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035049" y="1744296"/>
            <a:ext cx="2651700" cy="75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035049" y="1744296"/>
            <a:ext cx="2651700" cy="267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144777" y="1821732"/>
            <a:ext cx="243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6144777" y="1995962"/>
            <a:ext cx="243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score 0–100 · grade A+…F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global / regional / country rank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57200" y="3853923"/>
            <a:ext cx="8229600" cy="682800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21792" y="3935879"/>
            <a:ext cx="7900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Example    programmes: yes · departments: yes · admissions policy: yes · menu: 6 items · no search box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                   last notice: 30 days · mobile 75 · contrast 13.3:1 · HTTPS: yes · 0 broken links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21800" y="4495253"/>
            <a:ext cx="79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→   82.2 / 100 · grade A · global rank 141 of 1,225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457200" y="4728979"/>
            <a:ext cx="8229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0E2A47"/>
                </a:solidFill>
                <a:latin typeface="Roboto"/>
                <a:ea typeface="Roboto"/>
                <a:cs typeface="Roboto"/>
                <a:sym typeface="Roboto"/>
              </a:rPr>
              <a:t>Supervised regression. Spearman ρ is the headline metric, because the deliverable is a league table.</a:t>
            </a:r>
            <a:endParaRPr sz="1600">
              <a:solidFill>
                <a:srgbClr val="0E2A47"/>
              </a:solidFill>
            </a:endParaRPr>
          </a:p>
        </p:txBody>
      </p:sp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8556775" y="4908590"/>
            <a:ext cx="548700" cy="2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57275" y="2905200"/>
            <a:ext cx="1599300" cy="869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57275" y="2905205"/>
            <a:ext cx="1599300" cy="26700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32538" y="2994958"/>
            <a:ext cx="14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32536" y="3338938"/>
            <a:ext cx="144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71 predictive features 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2114359" y="3229761"/>
            <a:ext cx="365700" cy="17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2617280" y="2881950"/>
            <a:ext cx="1920300" cy="869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617280" y="2881950"/>
            <a:ext cx="1920300" cy="30900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2727008" y="2971708"/>
            <a:ext cx="17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B947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Algorithm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727008" y="3173662"/>
            <a:ext cx="17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12 regression algorithms trained on the same split 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590526" y="3197011"/>
            <a:ext cx="254700" cy="17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940628" y="2849200"/>
            <a:ext cx="1845900" cy="869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940628" y="2849200"/>
            <a:ext cx="1845900" cy="309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016964" y="2918108"/>
            <a:ext cx="169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Score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017014" y="3140912"/>
            <a:ext cx="169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Predict website_score 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22625" y="1419850"/>
            <a:ext cx="29115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Stage A: SCORING &amp; RANKING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22625" y="2523100"/>
            <a:ext cx="299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Stage B: 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MACHINE LEARNING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89575" y="2809925"/>
            <a:ext cx="1845900" cy="1044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576697" y="2899675"/>
            <a:ext cx="113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Comparison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264825" y="3084475"/>
            <a:ext cx="17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Compare R², MAE, RMSE and Spearman rank agreement 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6860701" y="3187823"/>
            <a:ext cx="254700" cy="17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Related Works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57200" y="1024128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studies that shaped our attribute set and our method</a:t>
            </a:r>
            <a:endParaRPr sz="1500"/>
          </a:p>
        </p:txBody>
      </p:sp>
      <p:sp>
        <p:nvSpPr>
          <p:cNvPr id="159" name="Google Shape;159;p18"/>
          <p:cNvSpPr/>
          <p:nvPr/>
        </p:nvSpPr>
        <p:spPr>
          <a:xfrm>
            <a:off x="457200" y="1353312"/>
            <a:ext cx="384048" cy="274320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12064" y="1403604"/>
            <a:ext cx="27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P1</a:t>
            </a:r>
            <a:endParaRPr sz="1500"/>
          </a:p>
        </p:txBody>
      </p:sp>
      <p:sp>
        <p:nvSpPr>
          <p:cNvPr id="161" name="Google Shape;161;p18"/>
          <p:cNvSpPr txBox="1"/>
          <p:nvPr/>
        </p:nvSpPr>
        <p:spPr>
          <a:xfrm>
            <a:off x="950976" y="1371600"/>
            <a:ext cx="1920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Mukanda et al. (2022)</a:t>
            </a:r>
            <a:endParaRPr sz="1500"/>
          </a:p>
        </p:txBody>
      </p:sp>
      <p:sp>
        <p:nvSpPr>
          <p:cNvPr id="162" name="Google Shape;162;p18"/>
          <p:cNvSpPr txBox="1"/>
          <p:nvPr/>
        </p:nvSpPr>
        <p:spPr>
          <a:xfrm>
            <a:off x="2651657" y="1405188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Usability of Kenyan university sites</a:t>
            </a:r>
            <a:endParaRPr sz="1500"/>
          </a:p>
        </p:txBody>
      </p:sp>
      <p:sp>
        <p:nvSpPr>
          <p:cNvPr id="163" name="Google Shape;163;p18"/>
          <p:cNvSpPr txBox="1"/>
          <p:nvPr/>
        </p:nvSpPr>
        <p:spPr>
          <a:xfrm>
            <a:off x="5120640" y="1380744"/>
            <a:ext cx="356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source of our technical and usability attributes</a:t>
            </a:r>
            <a:endParaRPr sz="1500"/>
          </a:p>
        </p:txBody>
      </p:sp>
      <p:sp>
        <p:nvSpPr>
          <p:cNvPr id="164" name="Google Shape;164;p18"/>
          <p:cNvSpPr/>
          <p:nvPr/>
        </p:nvSpPr>
        <p:spPr>
          <a:xfrm>
            <a:off x="457200" y="1737360"/>
            <a:ext cx="384048" cy="274320"/>
          </a:xfrm>
          <a:prstGeom prst="roundRect">
            <a:avLst>
              <a:gd fmla="val 8000" name="adj"/>
            </a:avLst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12064" y="1787651"/>
            <a:ext cx="27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P2</a:t>
            </a:r>
            <a:endParaRPr sz="1500"/>
          </a:p>
        </p:txBody>
      </p:sp>
      <p:sp>
        <p:nvSpPr>
          <p:cNvPr id="166" name="Google Shape;166;p18"/>
          <p:cNvSpPr txBox="1"/>
          <p:nvPr/>
        </p:nvSpPr>
        <p:spPr>
          <a:xfrm>
            <a:off x="950976" y="1755648"/>
            <a:ext cx="1920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Rashida et al. (2021)</a:t>
            </a:r>
            <a:endParaRPr sz="1500"/>
          </a:p>
        </p:txBody>
      </p:sp>
      <p:sp>
        <p:nvSpPr>
          <p:cNvPr id="167" name="Google Shape;167;p18"/>
          <p:cNvSpPr txBox="1"/>
          <p:nvPr/>
        </p:nvSpPr>
        <p:spPr>
          <a:xfrm>
            <a:off x="2542032" y="1755648"/>
            <a:ext cx="246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Bangladesh content / performance framework</a:t>
            </a:r>
            <a:endParaRPr sz="1500"/>
          </a:p>
        </p:txBody>
      </p:sp>
      <p:sp>
        <p:nvSpPr>
          <p:cNvPr id="168" name="Google Shape;168;p18"/>
          <p:cNvSpPr txBox="1"/>
          <p:nvPr/>
        </p:nvSpPr>
        <p:spPr>
          <a:xfrm>
            <a:off x="5120640" y="1764792"/>
            <a:ext cx="356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our principal baseline for the attribute schema</a:t>
            </a:r>
            <a:endParaRPr sz="1500"/>
          </a:p>
        </p:txBody>
      </p:sp>
      <p:sp>
        <p:nvSpPr>
          <p:cNvPr id="169" name="Google Shape;169;p18"/>
          <p:cNvSpPr/>
          <p:nvPr/>
        </p:nvSpPr>
        <p:spPr>
          <a:xfrm>
            <a:off x="457200" y="2121408"/>
            <a:ext cx="384048" cy="274320"/>
          </a:xfrm>
          <a:prstGeom prst="roundRect">
            <a:avLst>
              <a:gd fmla="val 8000" name="adj"/>
            </a:avLst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12064" y="2171700"/>
            <a:ext cx="27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P3</a:t>
            </a:r>
            <a:endParaRPr sz="1500"/>
          </a:p>
        </p:txBody>
      </p:sp>
      <p:sp>
        <p:nvSpPr>
          <p:cNvPr id="171" name="Google Shape;171;p18"/>
          <p:cNvSpPr txBox="1"/>
          <p:nvPr/>
        </p:nvSpPr>
        <p:spPr>
          <a:xfrm>
            <a:off x="950976" y="2139696"/>
            <a:ext cx="1920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Saleh et al. (2022)</a:t>
            </a:r>
            <a:endParaRPr sz="1500"/>
          </a:p>
        </p:txBody>
      </p:sp>
      <p:sp>
        <p:nvSpPr>
          <p:cNvPr id="172" name="Google Shape;172;p18"/>
          <p:cNvSpPr txBox="1"/>
          <p:nvPr/>
        </p:nvSpPr>
        <p:spPr>
          <a:xfrm>
            <a:off x="2542032" y="2139696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Six-factor website quality model</a:t>
            </a:r>
            <a:endParaRPr sz="1500"/>
          </a:p>
        </p:txBody>
      </p:sp>
      <p:sp>
        <p:nvSpPr>
          <p:cNvPr id="173" name="Google Shape;173;p18"/>
          <p:cNvSpPr txBox="1"/>
          <p:nvPr/>
        </p:nvSpPr>
        <p:spPr>
          <a:xfrm>
            <a:off x="5120640" y="2148839"/>
            <a:ext cx="356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information, content, usability, appearance, interaction, function</a:t>
            </a:r>
            <a:endParaRPr sz="1500"/>
          </a:p>
        </p:txBody>
      </p:sp>
      <p:sp>
        <p:nvSpPr>
          <p:cNvPr id="174" name="Google Shape;174;p18"/>
          <p:cNvSpPr/>
          <p:nvPr/>
        </p:nvSpPr>
        <p:spPr>
          <a:xfrm>
            <a:off x="457200" y="2505456"/>
            <a:ext cx="384048" cy="274320"/>
          </a:xfrm>
          <a:prstGeom prst="roundRect">
            <a:avLst>
              <a:gd fmla="val 8000" name="adj"/>
            </a:avLst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512064" y="2555748"/>
            <a:ext cx="27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P4</a:t>
            </a:r>
            <a:endParaRPr sz="1500"/>
          </a:p>
        </p:txBody>
      </p:sp>
      <p:sp>
        <p:nvSpPr>
          <p:cNvPr id="176" name="Google Shape;176;p18"/>
          <p:cNvSpPr txBox="1"/>
          <p:nvPr/>
        </p:nvSpPr>
        <p:spPr>
          <a:xfrm>
            <a:off x="950976" y="2523744"/>
            <a:ext cx="1920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Biyyapu et al. (2023)</a:t>
            </a:r>
            <a:endParaRPr sz="1500"/>
          </a:p>
        </p:txBody>
      </p:sp>
      <p:sp>
        <p:nvSpPr>
          <p:cNvPr id="177" name="Google Shape;177;p18"/>
          <p:cNvSpPr txBox="1"/>
          <p:nvPr/>
        </p:nvSpPr>
        <p:spPr>
          <a:xfrm>
            <a:off x="2542032" y="2523744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ML on completeness features</a:t>
            </a:r>
            <a:endParaRPr sz="1500"/>
          </a:p>
        </p:txBody>
      </p:sp>
      <p:sp>
        <p:nvSpPr>
          <p:cNvPr id="178" name="Google Shape;178;p18"/>
          <p:cNvSpPr txBox="1"/>
          <p:nvPr/>
        </p:nvSpPr>
        <p:spPr>
          <a:xfrm>
            <a:off x="5120640" y="2532887"/>
            <a:ext cx="356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motivates our move from counting to a learned score</a:t>
            </a:r>
            <a:endParaRPr sz="1500"/>
          </a:p>
        </p:txBody>
      </p:sp>
      <p:sp>
        <p:nvSpPr>
          <p:cNvPr id="179" name="Google Shape;179;p18"/>
          <p:cNvSpPr/>
          <p:nvPr/>
        </p:nvSpPr>
        <p:spPr>
          <a:xfrm>
            <a:off x="457200" y="2889503"/>
            <a:ext cx="384048" cy="274320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12064" y="2939796"/>
            <a:ext cx="27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P5</a:t>
            </a:r>
            <a:endParaRPr sz="1500"/>
          </a:p>
        </p:txBody>
      </p:sp>
      <p:sp>
        <p:nvSpPr>
          <p:cNvPr id="181" name="Google Shape;181;p18"/>
          <p:cNvSpPr txBox="1"/>
          <p:nvPr/>
        </p:nvSpPr>
        <p:spPr>
          <a:xfrm>
            <a:off x="950976" y="2907791"/>
            <a:ext cx="1920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Webometrics (2024)</a:t>
            </a:r>
            <a:endParaRPr sz="1500"/>
          </a:p>
        </p:txBody>
      </p:sp>
      <p:sp>
        <p:nvSpPr>
          <p:cNvPr id="182" name="Google Shape;182;p18"/>
          <p:cNvSpPr txBox="1"/>
          <p:nvPr/>
        </p:nvSpPr>
        <p:spPr>
          <a:xfrm>
            <a:off x="2542032" y="2907791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External ranking benchmark</a:t>
            </a:r>
            <a:endParaRPr sz="1500"/>
          </a:p>
        </p:txBody>
      </p:sp>
      <p:sp>
        <p:nvSpPr>
          <p:cNvPr id="183" name="Google Shape;183;p18"/>
          <p:cNvSpPr txBox="1"/>
          <p:nvPr/>
        </p:nvSpPr>
        <p:spPr>
          <a:xfrm>
            <a:off x="5120640" y="2916935"/>
            <a:ext cx="356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used for construct-validity reference only, never as a feature</a:t>
            </a:r>
            <a:endParaRPr sz="1500"/>
          </a:p>
        </p:txBody>
      </p:sp>
      <p:sp>
        <p:nvSpPr>
          <p:cNvPr id="184" name="Google Shape;184;p18"/>
          <p:cNvSpPr/>
          <p:nvPr/>
        </p:nvSpPr>
        <p:spPr>
          <a:xfrm>
            <a:off x="457200" y="3346704"/>
            <a:ext cx="8229600" cy="512064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21792" y="3456432"/>
            <a:ext cx="79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Common thread — </a:t>
            </a:r>
            <a:r>
              <a:rPr lang="en-US"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Prior studies provide measurable criteria for website quality, including content availability, usability, accessibility, technical performance and completeness. </a:t>
            </a:r>
            <a:endParaRPr sz="1500"/>
          </a:p>
        </p:txBody>
      </p:sp>
      <p:sp>
        <p:nvSpPr>
          <p:cNvPr id="186" name="Google Shape;186;p18"/>
          <p:cNvSpPr/>
          <p:nvPr/>
        </p:nvSpPr>
        <p:spPr>
          <a:xfrm>
            <a:off x="457200" y="3931920"/>
            <a:ext cx="8229600" cy="6035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57200" y="3931920"/>
            <a:ext cx="8229600" cy="457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21792" y="4059936"/>
            <a:ext cx="7900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gap we address — </a:t>
            </a:r>
            <a:r>
              <a:rPr lang="en-US" sz="13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Most prior approaches rely on manual evaluation, feature counting or fixed weighted formulas. Our work adds a controlled machine-learning comparison and asks how different model families learn a scoring function containing thresholds, saturation effects and hard caps. </a:t>
            </a:r>
            <a:endParaRPr sz="1500"/>
          </a:p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Dataset Information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57200" y="1024128"/>
            <a:ext cx="1517904" cy="11704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57200" y="1024128"/>
            <a:ext cx="1517904" cy="50292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48640" y="1143000"/>
            <a:ext cx="1335024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1,230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30352" y="1602232"/>
            <a:ext cx="1371600" cy="555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landing pages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crawled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2121408" y="1024128"/>
            <a:ext cx="1517904" cy="11704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121408" y="1024128"/>
            <a:ext cx="1517904" cy="50292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2212848" y="1143000"/>
            <a:ext cx="1335024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1,225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194560" y="1602232"/>
            <a:ext cx="1371600" cy="555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after cleaning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3785616" y="1024128"/>
            <a:ext cx="1517904" cy="11704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785616" y="1024128"/>
            <a:ext cx="1517904" cy="50292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877056" y="1143000"/>
            <a:ext cx="1335024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69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3858768" y="1602232"/>
            <a:ext cx="1371600" cy="555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measured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attributes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449824" y="1024128"/>
            <a:ext cx="1517904" cy="11704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449824" y="1024128"/>
            <a:ext cx="1517904" cy="5029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5541264" y="1143000"/>
            <a:ext cx="1335024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71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522976" y="1602232"/>
            <a:ext cx="1371600" cy="555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features given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to the model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7114032" y="1024128"/>
            <a:ext cx="1517904" cy="11704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7114032" y="1024128"/>
            <a:ext cx="1517904" cy="5029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7205472" y="1143000"/>
            <a:ext cx="1335024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7187184" y="1602232"/>
            <a:ext cx="1371600" cy="555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world regions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~200 each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457200" y="2395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69 attributes, as collected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457200" y="2761488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539496" y="284378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B1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32688" y="2852928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Header &amp; navigation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2103120" y="2843784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2487168" y="2761488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2569464" y="284378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B2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2962656" y="2852928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Rankings &amp; recognition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4133088" y="2843784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4517136" y="2761488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4599432" y="284378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B3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4992624" y="2852928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Notices &amp; updates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163056" y="2843784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6547104" y="2761488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629400" y="284378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B4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7022592" y="2852928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Events &amp; media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8193024" y="2843784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457200" y="3246120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539496" y="3328415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B5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932688" y="3337560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Page content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2103120" y="3328415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2487168" y="3246120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2569464" y="3328415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B6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2962656" y="3337560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Footer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4133088" y="3328415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4517136" y="3246120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599432" y="3328415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B7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4992624" y="3337560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Visual design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6163056" y="3328415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6547104" y="3246120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6629400" y="3328415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B8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7022592" y="3337560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Service interaction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8193024" y="3328415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457200" y="3730752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39496" y="38130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B9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932688" y="3822191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Technical performance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2103120" y="3813048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2487168" y="3730752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2569464" y="38130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B10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2962656" y="3822191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SEO metadata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4133088" y="3813048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4517136" y="3730752"/>
            <a:ext cx="1975104" cy="402336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4599432" y="38130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B11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4992624" y="3822191"/>
            <a:ext cx="1152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Accessibility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6163056" y="3813048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457200" y="4370832"/>
            <a:ext cx="8229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0E2A47"/>
                </a:solidFill>
                <a:latin typeface="Roboto"/>
                <a:ea typeface="Roboto"/>
                <a:cs typeface="Roboto"/>
                <a:sym typeface="Roboto"/>
              </a:rPr>
              <a:t>Three kinds of attribute — binary flags, counts, and measurements.</a:t>
            </a:r>
            <a:endParaRPr sz="1500">
              <a:solidFill>
                <a:srgbClr val="0E2A47"/>
              </a:solidFill>
            </a:endParaRPr>
          </a:p>
        </p:txBody>
      </p:sp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Dataset Information — Collection and Coverage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Six team members, one world region each — 1,230 university landing pages</a:t>
            </a:r>
            <a:endParaRPr/>
          </a:p>
        </p:txBody>
      </p:sp>
      <p:graphicFrame>
        <p:nvGraphicFramePr>
          <p:cNvPr id="270" name="Google Shape;270;p20"/>
          <p:cNvGraphicFramePr/>
          <p:nvPr/>
        </p:nvGraphicFramePr>
        <p:xfrm>
          <a:off x="457200" y="1353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393100"/>
                <a:gridCol w="1825075"/>
                <a:gridCol w="2293050"/>
                <a:gridCol w="655150"/>
              </a:tblGrid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Team member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Region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Sites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Md. Rubayet Nabil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North America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Abhijeet Deb Nath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Western &amp; Northern Europe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Afifa Sultana Offa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Eastern &amp; Southern Europe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Faisal Ahmed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Asia (East &amp; Southeast)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 Shariar Hossain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South &amp; Central Asia + Oceania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Khadimul Islam Mahi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Latin America &amp; Africa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20"/>
          <p:cNvSpPr txBox="1"/>
          <p:nvPr/>
        </p:nvSpPr>
        <p:spPr>
          <a:xfrm>
            <a:off x="457200" y="3145525"/>
            <a:ext cx="516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1,230 collected   ·   1,225 after deduplication</a:t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5870448" y="1353312"/>
            <a:ext cx="2816352" cy="170078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5870448" y="1353312"/>
            <a:ext cx="2816352" cy="4572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5980176" y="1499616"/>
            <a:ext cx="25968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D6B2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One collector per region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5980176" y="1792224"/>
            <a:ext cx="259689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Coverage is balanced and the workload even.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5980176" y="2157984"/>
            <a:ext cx="259689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But it also means collector and region are perfectly confounded, which is why load time is standardised within region.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457200" y="3482297"/>
            <a:ext cx="8229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How each page was captured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457200" y="3840118"/>
            <a:ext cx="201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694944" y="3840118"/>
            <a:ext cx="790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Automated extraction </a:t>
            </a:r>
            <a:r>
              <a:rPr b="0" i="0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— a script visited each landing page and recorded 69 attributes: presence flags, counts and measurements.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457200" y="4197939"/>
            <a:ext cx="201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694944" y="4197939"/>
            <a:ext cx="7900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English version preferred </a:t>
            </a:r>
            <a:r>
              <a:rPr b="0" i="0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where the site offered one, so content attributes are comparable across regions.</a:t>
            </a:r>
            <a:endParaRPr/>
          </a:p>
        </p:txBody>
      </p:sp>
      <p:sp>
        <p:nvSpPr>
          <p:cNvPr id="282" name="Google Shape;282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Preprocessing — Cleaning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" name="Google Shape;289;p21"/>
          <p:cNvGraphicFramePr/>
          <p:nvPr/>
        </p:nvGraphicFramePr>
        <p:xfrm>
          <a:off x="45720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2377450"/>
                <a:gridCol w="1188725"/>
                <a:gridCol w="466345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Issue found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Scale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Action taken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Constant / empty columns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Dropped — zero variance, no information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Exact duplicate column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a62_load_speed_s was identical to load_time_s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ranking values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95–99% null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Dropped — measure prestige, not the website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Duplicate sites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 rows → 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Deduplicated on the resolved URL, not the entry URL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Notice dates after the crawl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Censored to the crawl date, and flagged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Regional labels in 'country'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Flagged — no country ranking produced for them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1"/>
          <p:cNvSpPr/>
          <p:nvPr/>
        </p:nvSpPr>
        <p:spPr>
          <a:xfrm>
            <a:off x="457200" y="3310128"/>
            <a:ext cx="8229600" cy="603504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640080" y="3438144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1,230 × 85   →   1,225 universities × 71 features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4480560" y="34564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Nothing was corrected silently — every step is logged.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Deduplicating on final_url is what catches aun.edu.eg and aun.edu.eg/main as one site.</a:t>
            </a:r>
            <a:endParaRPr/>
          </a:p>
        </p:txBody>
      </p:sp>
      <p:sp>
        <p:nvSpPr>
          <p:cNvPr id="294" name="Google Shape;29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Preprocessing — Missing Values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57200" y="1024128"/>
            <a:ext cx="8229600" cy="122529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457200" y="1024128"/>
            <a:ext cx="8229600" cy="502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5303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Why we rejected median imputation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40080" y="1536192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The median of notice_recency_days is 1 day. Median-filling would record the 468 universities with no dated notice anywhere as having posted yesterday — handing the strongest freshness signal to the sites that earned it least.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457200" y="2450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 each is filled at its worst defensible value instead</a:t>
            </a:r>
            <a:endParaRPr/>
          </a:p>
        </p:txBody>
      </p:sp>
      <p:graphicFrame>
        <p:nvGraphicFramePr>
          <p:cNvPr id="306" name="Google Shape;306;p22"/>
          <p:cNvGraphicFramePr/>
          <p:nvPr/>
        </p:nvGraphicFramePr>
        <p:xfrm>
          <a:off x="457200" y="27797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2286000"/>
                <a:gridCol w="822950"/>
                <a:gridCol w="1371600"/>
                <a:gridCol w="3749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Attribute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Rows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Filled with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What absence actually means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notice_recency_days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468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3650 days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 dated notice exists anywhere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a72_alt_text_pct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 image carries a text alternative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a53_contrast_ratio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1.0 : 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 readable text block was found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22"/>
          <p:cNvSpPr txBox="1"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 *_was_missing flag is computed BEFORE the fill, so "never measured" stays recoverable.</a:t>
            </a:r>
            <a:endParaRPr/>
          </a:p>
        </p:txBody>
      </p:sp>
      <p:sp>
        <p:nvSpPr>
          <p:cNvPr id="308" name="Google Shape;30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Preprocessing — Feature Engineering and Pipeline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Four engineered features</a:t>
            </a:r>
            <a:endParaRPr/>
          </a:p>
        </p:txBody>
      </p:sp>
      <p:graphicFrame>
        <p:nvGraphicFramePr>
          <p:cNvPr id="316" name="Google Shape;316;p23"/>
          <p:cNvGraphicFramePr/>
          <p:nvPr/>
        </p:nvGraphicFramePr>
        <p:xfrm>
          <a:off x="45720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2148850"/>
                <a:gridCol w="2834650"/>
                <a:gridCol w="324612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Feature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How it is computed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Why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notice_recency_days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crawl date − last notice date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turns an absolute date into staleness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load_time_z_region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z-score of load time within region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removes the collector confound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broken_links_log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log(1 + broken links)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81% are zero; one site has 1,129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*_was_missing  × 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indicator computed before the fill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keeps "never measured" recoverable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3"/>
          <p:cNvSpPr txBox="1"/>
          <p:nvPr/>
        </p:nvSpPr>
        <p:spPr>
          <a:xfrm>
            <a:off x="457200" y="26334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full preprocessing pipeline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457200" y="2926080"/>
            <a:ext cx="1143000" cy="85953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457200" y="2926080"/>
            <a:ext cx="1143000" cy="4572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502920" y="3026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E9E9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Clean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502920" y="3282696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drop, dedupe,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censor, flag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1636776" y="3236976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1874519" y="2926080"/>
            <a:ext cx="1143000" cy="85953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1874519" y="2926080"/>
            <a:ext cx="1143000" cy="457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1920239" y="3026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303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Fill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1920239" y="3282696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worst-case, not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3054096" y="3236976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3291840" y="2926080"/>
            <a:ext cx="1143000" cy="85953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3291840" y="2926080"/>
            <a:ext cx="1143000" cy="4572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3337560" y="3026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D6B2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Engineer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3337560" y="3282696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4 derived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4471416" y="3236976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4709160" y="2926080"/>
            <a:ext cx="1143000" cy="85953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4709160" y="2926080"/>
            <a:ext cx="1143000" cy="45720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4754880" y="3026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B947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Withhold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4754880" y="3282696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IDs, geography,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curve outputs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888736" y="3236976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6126480" y="2926080"/>
            <a:ext cx="1143000" cy="85953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126480" y="2926080"/>
            <a:ext cx="1143000" cy="457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6172200" y="3026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Split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6172200" y="3282696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80 / 20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stratified</a:t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7306056" y="3236976"/>
            <a:ext cx="20116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7543800" y="2926080"/>
            <a:ext cx="1143000" cy="85953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7543800" y="2926080"/>
            <a:ext cx="1143000" cy="45720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7589520" y="3026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Scale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7589520" y="3282696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inside the CV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fold only</a:t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457200" y="3931920"/>
            <a:ext cx="8229600" cy="786384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621792" y="4032504"/>
            <a:ext cx="790041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Two decisions matter most.  Scaling is fitted INSIDE each cross-validation fold, never on the whole dataset — otherwise the validation fold leaks into training.  And the outputs of the scoring curves are withheld, so the model has to recover the curve shapes from raw attributes.</a:t>
            </a:r>
            <a:endParaRPr/>
          </a:p>
        </p:txBody>
      </p:sp>
      <p:sp>
        <p:nvSpPr>
          <p:cNvPr id="349" name="Google Shape;34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Scoring Model</a:t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457200" y="1024128"/>
            <a:ext cx="8229600" cy="512064"/>
          </a:xfrm>
          <a:prstGeom prst="roundRect">
            <a:avLst>
              <a:gd fmla="val 8000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 txBox="1"/>
          <p:nvPr/>
        </p:nvSpPr>
        <p:spPr>
          <a:xfrm>
            <a:off x="603504" y="1143000"/>
            <a:ext cx="79369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Score  =  min ( 28·D₁ + 22·D₂ + 15·D₃ + 15·D₄ + 10·D₅ + 7·D₆ + 3·D₇ ,  cap )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457200" y="170078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D₁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877824" y="1709928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Academic information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3054096" y="1805940"/>
            <a:ext cx="1097280" cy="68580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 txBox="1"/>
          <p:nvPr/>
        </p:nvSpPr>
        <p:spPr>
          <a:xfrm>
            <a:off x="4224528" y="1709928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28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4773168" y="1714500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What can I study, and who teaches it?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457200" y="203454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D₂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877824" y="2043684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Admission support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3054096" y="2139696"/>
            <a:ext cx="862148" cy="68580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4224528" y="2043684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22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4773168" y="2048256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How do I apply, and what will it cost?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457200" y="23682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D₃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877824" y="2377439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Currency and activity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3054096" y="2473452"/>
            <a:ext cx="587828" cy="6858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4224528" y="2377439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4773168" y="2382012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Is this institution alive and current?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457200" y="2702052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B947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D₄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877824" y="2711196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Navigation and findability</a:t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3054096" y="2807208"/>
            <a:ext cx="587828" cy="68580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4224528" y="2711196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4773168" y="2715768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Can I find what I need?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457200" y="303580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D6B2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D₅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877824" y="3044952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Usability and accessibility</a:t>
            </a:r>
            <a:endParaRPr/>
          </a:p>
        </p:txBody>
      </p:sp>
      <p:sp>
        <p:nvSpPr>
          <p:cNvPr id="380" name="Google Shape;380;p24"/>
          <p:cNvSpPr/>
          <p:nvPr/>
        </p:nvSpPr>
        <p:spPr>
          <a:xfrm>
            <a:off x="3054096" y="3140964"/>
            <a:ext cx="391885" cy="6858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4224528" y="3044952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773168" y="3049524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Can I use it, on any device?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457200" y="336956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D6B2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D₆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877824" y="3378708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Technical quality and discoverability</a:t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>
            <a:off x="3054096" y="3474720"/>
            <a:ext cx="274320" cy="6858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4224528" y="3378708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4773168" y="3383280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Does it work, and can it be found?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457200" y="370332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E9E9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D₇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877824" y="3712464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Institutional identity and transparency</a:t>
            </a:r>
            <a:endParaRPr/>
          </a:p>
        </p:txBody>
      </p:sp>
      <p:sp>
        <p:nvSpPr>
          <p:cNvPr id="390" name="Google Shape;390;p24"/>
          <p:cNvSpPr/>
          <p:nvPr/>
        </p:nvSpPr>
        <p:spPr>
          <a:xfrm>
            <a:off x="3054096" y="3808476"/>
            <a:ext cx="117565" cy="6858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4224528" y="3712464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4773168" y="3717036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Is it clear who they are?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Content the applicant came for is half the score (D₁+D₂ = 50). Weights were fixed by a stated rule before any score was computed.</a:t>
            </a:r>
            <a:endParaRPr/>
          </a:p>
        </p:txBody>
      </p:sp>
      <p:sp>
        <p:nvSpPr>
          <p:cNvPr id="394" name="Google Shape;39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7" name="Google Shape;657;p3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Which Attributes Enter the Label — and Which Do Not</a:t>
            </a:r>
            <a:endParaRPr/>
          </a:p>
        </p:txBody>
      </p:sp>
      <p:sp>
        <p:nvSpPr>
          <p:cNvPr id="658" name="Google Shape;658;p37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7"/>
          <p:cNvSpPr txBox="1"/>
          <p:nvPr/>
        </p:nvSpPr>
        <p:spPr>
          <a:xfrm>
            <a:off x="45720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 excluded — each for a stated reason</a:t>
            </a:r>
            <a:endParaRPr/>
          </a:p>
        </p:txBody>
      </p:sp>
      <p:graphicFrame>
        <p:nvGraphicFramePr>
          <p:cNvPr id="660" name="Google Shape;660;p37"/>
          <p:cNvGraphicFramePr/>
          <p:nvPr/>
        </p:nvGraphicFramePr>
        <p:xfrm>
          <a:off x="45720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411475"/>
                <a:gridCol w="2743200"/>
                <a:gridCol w="82295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Reason for exclusion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Example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Prestige leakage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a07_qs_badge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Quality not judgeable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a54_banner_carousel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 applicant need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a61_testimonials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Depth count of a scored flag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a12_accred_count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Too rare to carry weight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a59_feedback_form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Redundant with a scored one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broken_links_log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Measurement metadata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*_was_missing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61" name="Google Shape;661;p37"/>
          <p:cNvSpPr txBox="1"/>
          <p:nvPr/>
        </p:nvSpPr>
        <p:spPr>
          <a:xfrm>
            <a:off x="470916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51 attributes build the score</a:t>
            </a:r>
            <a:endParaRPr/>
          </a:p>
        </p:txBody>
      </p:sp>
      <p:graphicFrame>
        <p:nvGraphicFramePr>
          <p:cNvPr id="662" name="Google Shape;662;p37"/>
          <p:cNvGraphicFramePr/>
          <p:nvPr/>
        </p:nvGraphicFramePr>
        <p:xfrm>
          <a:off x="470916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384050"/>
                <a:gridCol w="2148850"/>
                <a:gridCol w="685800"/>
                <a:gridCol w="75895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Dim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Dimension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Attrs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Pts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D₁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Academic information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D₂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Admission support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D₃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Currency and activity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D₄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Navigation and findability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D₅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Usability and accessibility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D₆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Technical and discoverability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D₇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Identity and transparency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63" name="Google Shape;663;p37"/>
          <p:cNvSpPr/>
          <p:nvPr/>
        </p:nvSpPr>
        <p:spPr>
          <a:xfrm>
            <a:off x="457200" y="3310128"/>
            <a:ext cx="8229600" cy="548640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621792" y="3410712"/>
            <a:ext cx="7900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An attribute worth collecting should either be used or excluded for a reason. All 71 still go to every model as input — only the target omits these 20.</a:t>
            </a:r>
            <a:endParaRPr/>
          </a:p>
        </p:txBody>
      </p:sp>
      <p:sp>
        <p:nvSpPr>
          <p:cNvPr id="665" name="Google Shape;665;p37"/>
          <p:cNvSpPr/>
          <p:nvPr/>
        </p:nvSpPr>
        <p:spPr>
          <a:xfrm>
            <a:off x="457200" y="3968496"/>
            <a:ext cx="8229600" cy="603504"/>
          </a:xfrm>
          <a:prstGeom prst="roundRect">
            <a:avLst>
              <a:gd fmla="val 8000" name="adj"/>
            </a:avLst>
          </a:prstGeom>
          <a:solidFill>
            <a:srgbClr val="FD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7"/>
          <p:cNvSpPr txBox="1"/>
          <p:nvPr/>
        </p:nvSpPr>
        <p:spPr>
          <a:xfrm>
            <a:off x="621792" y="4069080"/>
            <a:ext cx="79004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Audit: the 20 excluded average |r| = 0.14 with the score, against 0.31 for the 51 that are scored.</a:t>
            </a:r>
            <a:endParaRPr/>
          </a:p>
        </p:txBody>
      </p:sp>
      <p:sp>
        <p:nvSpPr>
          <p:cNvPr id="667" name="Google Shape;66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Six Attributes Do Not Reward Linearly</a:t>
            </a:r>
            <a:endParaRPr/>
          </a:p>
        </p:txBody>
      </p:sp>
      <p:sp>
        <p:nvSpPr>
          <p:cNvPr id="400" name="Google Shape;400;p25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457200" y="331012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694944" y="3310128"/>
            <a:ext cx="7900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Menu size </a:t>
            </a:r>
            <a:r>
              <a:rPr b="0" i="0" lang="en-US" sz="12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— a 20-item menu is a wall of links, not better navigation than 7 items.</a:t>
            </a:r>
            <a:endParaRPr/>
          </a:p>
        </p:txBody>
      </p:sp>
      <p:sp>
        <p:nvSpPr>
          <p:cNvPr id="404" name="Google Shape;404;p25"/>
          <p:cNvSpPr txBox="1"/>
          <p:nvPr/>
        </p:nvSpPr>
        <p:spPr>
          <a:xfrm>
            <a:off x="457200" y="358444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694944" y="3584448"/>
            <a:ext cx="7900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Notice age </a:t>
            </a:r>
            <a:r>
              <a:rPr b="0" i="0" lang="en-US" sz="12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— "recent" and "abandoned" are plateaus with a cliff between them.</a:t>
            </a:r>
            <a:endParaRPr/>
          </a:p>
        </p:txBody>
      </p:sp>
      <p:sp>
        <p:nvSpPr>
          <p:cNvPr id="406" name="Google Shape;406;p25"/>
          <p:cNvSpPr txBox="1"/>
          <p:nvPr/>
        </p:nvSpPr>
        <p:spPr>
          <a:xfrm>
            <a:off x="457200" y="387705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407" name="Google Shape;407;p25"/>
          <p:cNvSpPr txBox="1"/>
          <p:nvPr/>
        </p:nvSpPr>
        <p:spPr>
          <a:xfrm>
            <a:off x="694944" y="3877056"/>
            <a:ext cx="7900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Contrast </a:t>
            </a:r>
            <a:r>
              <a:rPr b="0" i="0" lang="en-US" sz="12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— WCAG AAA is 7:1; beyond it, more contrast is not a better read.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457200" y="415137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694944" y="4151376"/>
            <a:ext cx="7900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Broken links — one is an oversight, forty is neglect. Not proportional.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Two more are not plotted: events are scaled by whether they carry a date, and alt-text coverage is concave (√). No monotone function can express an inverted U — this is what separates the model families later.</a:t>
            </a:r>
            <a:endParaRPr/>
          </a:p>
        </p:txBody>
      </p:sp>
      <p:sp>
        <p:nvSpPr>
          <p:cNvPr id="411" name="Google Shape;41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2" name="Picture 411" descr="fi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494" y="1078992"/>
            <a:ext cx="5969011" cy="1750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Two Gates: Some Failures Are Not Trade-offs</a:t>
            </a:r>
            <a:endParaRPr/>
          </a:p>
        </p:txBody>
      </p:sp>
      <p:sp>
        <p:nvSpPr>
          <p:cNvPr id="417" name="Google Shape;417;p26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457200" y="1024128"/>
            <a:ext cx="3913632" cy="731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6"/>
          <p:cNvSpPr txBox="1"/>
          <p:nvPr/>
        </p:nvSpPr>
        <p:spPr>
          <a:xfrm>
            <a:off x="594360" y="110642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 primary navigation   →   cap 45</a:t>
            </a: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594360" y="13898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 site that cannot be navigated cannot serve an applicant</a:t>
            </a:r>
            <a:endParaRPr/>
          </a:p>
        </p:txBody>
      </p:sp>
      <p:sp>
        <p:nvSpPr>
          <p:cNvPr id="421" name="Google Shape;421;p26"/>
          <p:cNvSpPr/>
          <p:nvPr/>
        </p:nvSpPr>
        <p:spPr>
          <a:xfrm>
            <a:off x="4773168" y="1024128"/>
            <a:ext cx="3913632" cy="731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6"/>
          <p:cNvSpPr txBox="1"/>
          <p:nvPr/>
        </p:nvSpPr>
        <p:spPr>
          <a:xfrm>
            <a:off x="4910328" y="110642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 HTTPS   →   cap 60</a:t>
            </a:r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4910328" y="13898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should not be trusted with an application form</a:t>
            </a:r>
            <a:endParaRPr/>
          </a:p>
        </p:txBody>
      </p:sp>
      <p:sp>
        <p:nvSpPr>
          <p:cNvPr id="425" name="Google Shape;425;p26"/>
          <p:cNvSpPr/>
          <p:nvPr/>
        </p:nvSpPr>
        <p:spPr>
          <a:xfrm>
            <a:off x="6748272" y="1975104"/>
            <a:ext cx="1938528" cy="15179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6748272" y="1975104"/>
            <a:ext cx="1938528" cy="502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6"/>
          <p:cNvSpPr txBox="1"/>
          <p:nvPr/>
        </p:nvSpPr>
        <p:spPr>
          <a:xfrm>
            <a:off x="6839712" y="2103120"/>
            <a:ext cx="1755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303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Gates applied</a:t>
            </a:r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6839712" y="239572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182</a:t>
            </a:r>
            <a:endParaRPr/>
          </a:p>
        </p:txBody>
      </p:sp>
      <p:sp>
        <p:nvSpPr>
          <p:cNvPr id="429" name="Google Shape;429;p26"/>
          <p:cNvSpPr txBox="1"/>
          <p:nvPr/>
        </p:nvSpPr>
        <p:spPr>
          <a:xfrm>
            <a:off x="7406640" y="244144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no menu  ·  cap 45</a:t>
            </a:r>
            <a:endParaRPr/>
          </a:p>
        </p:txBody>
      </p:sp>
      <p:sp>
        <p:nvSpPr>
          <p:cNvPr id="430" name="Google Shape;430;p26"/>
          <p:cNvSpPr txBox="1"/>
          <p:nvPr/>
        </p:nvSpPr>
        <p:spPr>
          <a:xfrm>
            <a:off x="6839712" y="274320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14</a:t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7406640" y="2788920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no HTTPS  ·  cap 60</a:t>
            </a:r>
            <a:endParaRPr/>
          </a:p>
        </p:txBody>
      </p:sp>
      <p:sp>
        <p:nvSpPr>
          <p:cNvPr id="432" name="Google Shape;432;p26"/>
          <p:cNvSpPr/>
          <p:nvPr/>
        </p:nvSpPr>
        <p:spPr>
          <a:xfrm>
            <a:off x="6876288" y="3108960"/>
            <a:ext cx="1682496" cy="1097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6"/>
          <p:cNvSpPr txBox="1"/>
          <p:nvPr/>
        </p:nvSpPr>
        <p:spPr>
          <a:xfrm>
            <a:off x="6839712" y="318211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5303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186</a:t>
            </a:r>
            <a:endParaRPr/>
          </a:p>
        </p:txBody>
      </p:sp>
      <p:sp>
        <p:nvSpPr>
          <p:cNvPr id="434" name="Google Shape;434;p26"/>
          <p:cNvSpPr txBox="1"/>
          <p:nvPr/>
        </p:nvSpPr>
        <p:spPr>
          <a:xfrm>
            <a:off x="7406640" y="3236976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 total  ·  15.2%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Mean score 40.2 for gated universities against 68.1 for the rest.</a:t>
            </a:r>
            <a:endParaRPr/>
          </a:p>
        </p:txBody>
      </p:sp>
      <p:sp>
        <p:nvSpPr>
          <p:cNvPr id="436" name="Google Shape;436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7" name="Picture 436" descr="fig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996018"/>
            <a:ext cx="5806440" cy="2245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Worked Example — KUET</a:t>
            </a: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7"/>
          <p:cNvSpPr txBox="1"/>
          <p:nvPr/>
        </p:nvSpPr>
        <p:spPr>
          <a:xfrm>
            <a:off x="45720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the crawler recorded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457200" y="133502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programmes · departments · faculty · library</a:t>
            </a:r>
            <a:endParaRPr/>
          </a:p>
        </p:txBody>
      </p:sp>
      <p:sp>
        <p:nvSpPr>
          <p:cNvPr id="445" name="Google Shape;445;p27"/>
          <p:cNvSpPr txBox="1"/>
          <p:nvPr/>
        </p:nvSpPr>
        <p:spPr>
          <a:xfrm>
            <a:off x="3657600" y="133502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yes</a:t>
            </a:r>
            <a:endParaRPr/>
          </a:p>
        </p:txBody>
      </p:sp>
      <p:sp>
        <p:nvSpPr>
          <p:cNvPr id="446" name="Google Shape;446;p27"/>
          <p:cNvSpPr txBox="1"/>
          <p:nvPr/>
        </p:nvSpPr>
        <p:spPr>
          <a:xfrm>
            <a:off x="457200" y="158648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admissions policy · notices · scholarships</a:t>
            </a:r>
            <a:endParaRPr/>
          </a:p>
        </p:txBody>
      </p:sp>
      <p:sp>
        <p:nvSpPr>
          <p:cNvPr id="447" name="Google Shape;447;p27"/>
          <p:cNvSpPr txBox="1"/>
          <p:nvPr/>
        </p:nvSpPr>
        <p:spPr>
          <a:xfrm>
            <a:off x="3657600" y="158648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yes</a:t>
            </a:r>
            <a:endParaRPr/>
          </a:p>
        </p:txBody>
      </p:sp>
      <p:sp>
        <p:nvSpPr>
          <p:cNvPr id="448" name="Google Shape;448;p27"/>
          <p:cNvSpPr txBox="1"/>
          <p:nvPr/>
        </p:nvSpPr>
        <p:spPr>
          <a:xfrm>
            <a:off x="457200" y="183794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careers page · prospectus</a:t>
            </a:r>
            <a:endParaRPr/>
          </a:p>
        </p:txBody>
      </p:sp>
      <p:sp>
        <p:nvSpPr>
          <p:cNvPr id="449" name="Google Shape;449;p27"/>
          <p:cNvSpPr txBox="1"/>
          <p:nvPr/>
        </p:nvSpPr>
        <p:spPr>
          <a:xfrm>
            <a:off x="3657600" y="183794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5303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</a:t>
            </a:r>
            <a:endParaRPr/>
          </a:p>
        </p:txBody>
      </p:sp>
      <p:sp>
        <p:nvSpPr>
          <p:cNvPr id="450" name="Google Shape;450;p27"/>
          <p:cNvSpPr txBox="1"/>
          <p:nvPr/>
        </p:nvSpPr>
        <p:spPr>
          <a:xfrm>
            <a:off x="457200" y="20894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menu 6 items · search box</a:t>
            </a:r>
            <a:endParaRPr/>
          </a:p>
        </p:txBody>
      </p:sp>
      <p:sp>
        <p:nvSpPr>
          <p:cNvPr id="451" name="Google Shape;451;p27"/>
          <p:cNvSpPr txBox="1"/>
          <p:nvPr/>
        </p:nvSpPr>
        <p:spPr>
          <a:xfrm>
            <a:off x="3657600" y="208940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D6B2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 search</a:t>
            </a:r>
            <a:endParaRPr/>
          </a:p>
        </p:txBody>
      </p:sp>
      <p:sp>
        <p:nvSpPr>
          <p:cNvPr id="452" name="Google Shape;452;p27"/>
          <p:cNvSpPr txBox="1"/>
          <p:nvPr/>
        </p:nvSpPr>
        <p:spPr>
          <a:xfrm>
            <a:off x="457200" y="234086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last notice</a:t>
            </a:r>
            <a:endParaRPr/>
          </a:p>
        </p:txBody>
      </p:sp>
      <p:sp>
        <p:nvSpPr>
          <p:cNvPr id="453" name="Google Shape;453;p27"/>
          <p:cNvSpPr txBox="1"/>
          <p:nvPr/>
        </p:nvSpPr>
        <p:spPr>
          <a:xfrm>
            <a:off x="3657600" y="234086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D6B2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30 days</a:t>
            </a:r>
            <a:endParaRPr/>
          </a:p>
        </p:txBody>
      </p:sp>
      <p:sp>
        <p:nvSpPr>
          <p:cNvPr id="454" name="Google Shape;454;p27"/>
          <p:cNvSpPr txBox="1"/>
          <p:nvPr/>
        </p:nvSpPr>
        <p:spPr>
          <a:xfrm>
            <a:off x="457200" y="259232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mobile 75 · contrast 13.3:1 · HTTPS · 0 broken</a:t>
            </a:r>
            <a:endParaRPr/>
          </a:p>
        </p:txBody>
      </p:sp>
      <p:sp>
        <p:nvSpPr>
          <p:cNvPr id="455" name="Google Shape;455;p27"/>
          <p:cNvSpPr txBox="1"/>
          <p:nvPr/>
        </p:nvSpPr>
        <p:spPr>
          <a:xfrm>
            <a:off x="3657600" y="259232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ok</a:t>
            </a:r>
            <a:endParaRPr/>
          </a:p>
        </p:txBody>
      </p:sp>
      <p:graphicFrame>
        <p:nvGraphicFramePr>
          <p:cNvPr id="456" name="Google Shape;456;p27"/>
          <p:cNvGraphicFramePr/>
          <p:nvPr/>
        </p:nvGraphicFramePr>
        <p:xfrm>
          <a:off x="470916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1554475"/>
                <a:gridCol w="914400"/>
                <a:gridCol w="548650"/>
                <a:gridCol w="960125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Dimension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Sub-score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×w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Points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D₁ Academic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0.920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25.76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D₂ Admission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0.850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18.70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D₃ Currency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0.908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13.62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D₄ Navigation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DE8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0.600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DE8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DE8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9.00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DE8E2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D₅ Usability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7.49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D₆ Technical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0.707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4.95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D₇ Identity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0.890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2.67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7" name="Google Shape;457;p27"/>
          <p:cNvSpPr/>
          <p:nvPr/>
        </p:nvSpPr>
        <p:spPr>
          <a:xfrm>
            <a:off x="4709160" y="2944368"/>
            <a:ext cx="3977639" cy="475488"/>
          </a:xfrm>
          <a:prstGeom prst="roundRect">
            <a:avLst>
              <a:gd fmla="val 8000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7"/>
          <p:cNvSpPr txBox="1"/>
          <p:nvPr/>
        </p:nvSpPr>
        <p:spPr>
          <a:xfrm>
            <a:off x="4800600" y="3044952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 gate applied   →   82.18 / 100   ·   grade A</a:t>
            </a:r>
            <a:endParaRPr/>
          </a:p>
        </p:txBody>
      </p:sp>
      <p:sp>
        <p:nvSpPr>
          <p:cNvPr id="459" name="Google Shape;459;p27"/>
          <p:cNvSpPr/>
          <p:nvPr/>
        </p:nvSpPr>
        <p:spPr>
          <a:xfrm>
            <a:off x="457200" y="3639312"/>
            <a:ext cx="8229600" cy="603504"/>
          </a:xfrm>
          <a:prstGeom prst="roundRect">
            <a:avLst>
              <a:gd fmla="val 8000" name="adj"/>
            </a:avLst>
          </a:prstGeom>
          <a:solidFill>
            <a:srgbClr val="FD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7"/>
          <p:cNvSpPr txBox="1"/>
          <p:nvPr/>
        </p:nvSpPr>
        <p:spPr>
          <a:xfrm>
            <a:off x="603504" y="3730752"/>
            <a:ext cx="79369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Why 4th in Bangladesh and not 1st?   D₄ = 0.60 — no search box, no breadcrumb, no footer sitemap, and a notice board 30 days old.</a:t>
            </a:r>
            <a:endParaRPr/>
          </a:p>
        </p:txBody>
      </p:sp>
      <p:sp>
        <p:nvSpPr>
          <p:cNvPr id="461" name="Google Shape;461;p27"/>
          <p:cNvSpPr txBox="1"/>
          <p:nvPr/>
        </p:nvSpPr>
        <p:spPr>
          <a:xfrm>
            <a:off x="457200" y="43525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Global rank 141 of 1,225.</a:t>
            </a:r>
            <a:endParaRPr/>
          </a:p>
        </p:txBody>
      </p:sp>
      <p:sp>
        <p:nvSpPr>
          <p:cNvPr id="462" name="Google Shape;46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0" name="Google Shape;700;p3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the Accuracy Does — and Does Not — Mean</a:t>
            </a:r>
            <a:endParaRPr/>
          </a:p>
        </p:txBody>
      </p:sp>
      <p:sp>
        <p:nvSpPr>
          <p:cNvPr id="701" name="Google Shape;701;p39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9"/>
          <p:cNvSpPr/>
          <p:nvPr/>
        </p:nvSpPr>
        <p:spPr>
          <a:xfrm>
            <a:off x="457200" y="1060704"/>
            <a:ext cx="274320" cy="237744"/>
          </a:xfrm>
          <a:prstGeom prst="roundRect">
            <a:avLst>
              <a:gd fmla="val 8000" name="adj"/>
            </a:avLst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9"/>
          <p:cNvSpPr txBox="1"/>
          <p:nvPr/>
        </p:nvSpPr>
        <p:spPr>
          <a:xfrm>
            <a:off x="512064" y="1110996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/>
          </a:p>
        </p:txBody>
      </p:sp>
      <p:sp>
        <p:nvSpPr>
          <p:cNvPr id="704" name="Google Shape;704;p39"/>
          <p:cNvSpPr txBox="1"/>
          <p:nvPr/>
        </p:nvSpPr>
        <p:spPr>
          <a:xfrm>
            <a:off x="841247" y="1042416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label is an arithmetic function of the features.</a:t>
            </a:r>
            <a:endParaRPr/>
          </a:p>
        </p:txBody>
      </p:sp>
      <p:sp>
        <p:nvSpPr>
          <p:cNvPr id="705" name="Google Shape;705;p39"/>
          <p:cNvSpPr txBox="1"/>
          <p:nvPr/>
        </p:nvSpPr>
        <p:spPr>
          <a:xfrm>
            <a:off x="841247" y="12664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 flexible enough model can in principle reconstruct it exactly, so R² = 0.993 is not evidence that website quality is predictable in general.</a:t>
            </a:r>
            <a:endParaRPr/>
          </a:p>
        </p:txBody>
      </p:sp>
      <p:sp>
        <p:nvSpPr>
          <p:cNvPr id="706" name="Google Shape;706;p39"/>
          <p:cNvSpPr/>
          <p:nvPr/>
        </p:nvSpPr>
        <p:spPr>
          <a:xfrm>
            <a:off x="457200" y="1650492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512064" y="1700784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/>
          </a:p>
        </p:txBody>
      </p:sp>
      <p:sp>
        <p:nvSpPr>
          <p:cNvPr id="708" name="Google Shape;708;p39"/>
          <p:cNvSpPr txBox="1"/>
          <p:nvPr/>
        </p:nvSpPr>
        <p:spPr>
          <a:xfrm>
            <a:off x="841247" y="1632204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So the question is stated narrowly.</a:t>
            </a:r>
            <a:endParaRPr/>
          </a:p>
        </p:txBody>
      </p:sp>
      <p:sp>
        <p:nvSpPr>
          <p:cNvPr id="709" name="Google Shape;709;p39"/>
          <p:cNvSpPr txBox="1"/>
          <p:nvPr/>
        </p:nvSpPr>
        <p:spPr>
          <a:xfrm>
            <a:off x="841247" y="185623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Given a scoring function with thresholds, saturations and two hard gates, which families of algorithm can recover it — and why do the others fail? That question is not circular.</a:t>
            </a:r>
            <a:endParaRPr/>
          </a:p>
        </p:txBody>
      </p:sp>
      <p:sp>
        <p:nvSpPr>
          <p:cNvPr id="710" name="Google Shape;710;p39"/>
          <p:cNvSpPr/>
          <p:nvPr/>
        </p:nvSpPr>
        <p:spPr>
          <a:xfrm>
            <a:off x="457200" y="2240280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9"/>
          <p:cNvSpPr txBox="1"/>
          <p:nvPr/>
        </p:nvSpPr>
        <p:spPr>
          <a:xfrm>
            <a:off x="512064" y="2290572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/>
          </a:p>
        </p:txBody>
      </p:sp>
      <p:sp>
        <p:nvSpPr>
          <p:cNvPr id="712" name="Google Shape;712;p39"/>
          <p:cNvSpPr txBox="1"/>
          <p:nvPr/>
        </p:nvSpPr>
        <p:spPr>
          <a:xfrm>
            <a:off x="841247" y="222199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model never sees the answer.</a:t>
            </a:r>
            <a:endParaRPr/>
          </a:p>
        </p:txBody>
      </p:sp>
      <p:sp>
        <p:nvSpPr>
          <p:cNvPr id="713" name="Google Shape;713;p39"/>
          <p:cNvSpPr txBox="1"/>
          <p:nvPr/>
        </p:nvSpPr>
        <p:spPr>
          <a:xfrm>
            <a:off x="841247" y="24460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Sub-scores, response-curve outputs and the gate flag are all withheld. It receives raw attributes only, and must recover the structure itself.</a:t>
            </a:r>
            <a:endParaRPr/>
          </a:p>
        </p:txBody>
      </p:sp>
      <p:sp>
        <p:nvSpPr>
          <p:cNvPr id="714" name="Google Shape;714;p39"/>
          <p:cNvSpPr/>
          <p:nvPr/>
        </p:nvSpPr>
        <p:spPr>
          <a:xfrm>
            <a:off x="457200" y="2830068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9"/>
          <p:cNvSpPr txBox="1"/>
          <p:nvPr/>
        </p:nvSpPr>
        <p:spPr>
          <a:xfrm>
            <a:off x="512064" y="2880360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/>
          </a:p>
        </p:txBody>
      </p:sp>
      <p:sp>
        <p:nvSpPr>
          <p:cNvPr id="716" name="Google Shape;716;p39"/>
          <p:cNvSpPr txBox="1"/>
          <p:nvPr/>
        </p:nvSpPr>
        <p:spPr>
          <a:xfrm>
            <a:off x="841247" y="281178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20 of the 71 features are distractors.</a:t>
            </a:r>
            <a:endParaRPr/>
          </a:p>
        </p:txBody>
      </p:sp>
      <p:sp>
        <p:nvSpPr>
          <p:cNvPr id="717" name="Google Shape;717;p39"/>
          <p:cNvSpPr txBox="1"/>
          <p:nvPr/>
        </p:nvSpPr>
        <p:spPr>
          <a:xfrm>
            <a:off x="841247" y="30358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They do not enter the label at all, so the model must also work out which attributes are irrelevant.</a:t>
            </a:r>
            <a:endParaRPr/>
          </a:p>
        </p:txBody>
      </p:sp>
      <p:sp>
        <p:nvSpPr>
          <p:cNvPr id="718" name="Google Shape;718;p39"/>
          <p:cNvSpPr/>
          <p:nvPr/>
        </p:nvSpPr>
        <p:spPr>
          <a:xfrm>
            <a:off x="457200" y="3419856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9"/>
          <p:cNvSpPr txBox="1"/>
          <p:nvPr/>
        </p:nvSpPr>
        <p:spPr>
          <a:xfrm>
            <a:off x="512064" y="3470148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/>
          </a:p>
        </p:txBody>
      </p:sp>
      <p:sp>
        <p:nvSpPr>
          <p:cNvPr id="720" name="Google Shape;720;p39"/>
          <p:cNvSpPr txBox="1"/>
          <p:nvPr/>
        </p:nvSpPr>
        <p:spPr>
          <a:xfrm>
            <a:off x="841247" y="3401568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Recovery is demonstrably not automatic.</a:t>
            </a:r>
            <a:endParaRPr/>
          </a:p>
        </p:txBody>
      </p:sp>
      <p:sp>
        <p:nvSpPr>
          <p:cNvPr id="721" name="Google Shape;721;p39"/>
          <p:cNvSpPr txBox="1"/>
          <p:nvPr/>
        </p:nvSpPr>
        <p:spPr>
          <a:xfrm>
            <a:off x="841247" y="36255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R² across the eleven real algorithms spans 0.768 to 0.990, and that spread sits on one identifiable subpopulation — the gated sites.</a:t>
            </a:r>
            <a:endParaRPr/>
          </a:p>
        </p:txBody>
      </p:sp>
      <p:sp>
        <p:nvSpPr>
          <p:cNvPr id="722" name="Google Shape;722;p39"/>
          <p:cNvSpPr/>
          <p:nvPr/>
        </p:nvSpPr>
        <p:spPr>
          <a:xfrm>
            <a:off x="457200" y="4009644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9"/>
          <p:cNvSpPr txBox="1"/>
          <p:nvPr/>
        </p:nvSpPr>
        <p:spPr>
          <a:xfrm>
            <a:off x="512064" y="4059935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/>
          </a:p>
        </p:txBody>
      </p:sp>
      <p:sp>
        <p:nvSpPr>
          <p:cNvPr id="724" name="Google Shape;724;p39"/>
          <p:cNvSpPr txBox="1"/>
          <p:nvPr/>
        </p:nvSpPr>
        <p:spPr>
          <a:xfrm>
            <a:off x="841247" y="3991356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remedy is a label that is not a function of the features.</a:t>
            </a:r>
            <a:endParaRPr/>
          </a:p>
        </p:txBody>
      </p:sp>
      <p:sp>
        <p:nvSpPr>
          <p:cNvPr id="725" name="Google Shape;725;p39"/>
          <p:cNvSpPr txBox="1"/>
          <p:nvPr/>
        </p:nvSpPr>
        <p:spPr>
          <a:xfrm>
            <a:off x="841247" y="42153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Human ratings, or blind pairwise judgements fitted with a Bradley–Terry model. That is the first item of future work.</a:t>
            </a:r>
            <a:endParaRPr/>
          </a:p>
        </p:txBody>
      </p:sp>
      <p:sp>
        <p:nvSpPr>
          <p:cNvPr id="726" name="Google Shape;72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Train / Test Protocol — with a Country Holdout</a:t>
            </a:r>
            <a:endParaRPr/>
          </a:p>
        </p:txBody>
      </p:sp>
      <p:sp>
        <p:nvSpPr>
          <p:cNvPr id="468" name="Google Shape;468;p28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457200" y="1024128"/>
            <a:ext cx="1965960" cy="10515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457200" y="1024128"/>
            <a:ext cx="1965960" cy="50292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8"/>
          <p:cNvSpPr txBox="1"/>
          <p:nvPr/>
        </p:nvSpPr>
        <p:spPr>
          <a:xfrm>
            <a:off x="548640" y="1143000"/>
            <a:ext cx="178308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981</a:t>
            </a:r>
            <a:endParaRPr/>
          </a:p>
        </p:txBody>
      </p:sp>
      <p:sp>
        <p:nvSpPr>
          <p:cNvPr id="472" name="Google Shape;472;p28"/>
          <p:cNvSpPr txBox="1"/>
          <p:nvPr/>
        </p:nvSpPr>
        <p:spPr>
          <a:xfrm>
            <a:off x="530352" y="1667256"/>
            <a:ext cx="1819656" cy="371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training universities</a:t>
            </a:r>
            <a:endParaRPr/>
          </a:p>
          <a:p>
            <a:pPr algn="ctr"/>
            <a:r>
              <a:rPr sz="1050" b="0">
                <a:solidFill>
                  <a:srgbClr val="434343"/>
                </a:solidFill>
                <a:latin typeface="Roboto"/>
              </a:rPr>
              <a:t>80%</a:t>
            </a:r>
          </a:p>
        </p:txBody>
      </p:sp>
      <p:sp>
        <p:nvSpPr>
          <p:cNvPr id="473" name="Google Shape;473;p28"/>
          <p:cNvSpPr/>
          <p:nvPr/>
        </p:nvSpPr>
        <p:spPr>
          <a:xfrm>
            <a:off x="2606040" y="1024128"/>
            <a:ext cx="1965960" cy="10515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2606040" y="1024128"/>
            <a:ext cx="1965960" cy="50292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8"/>
          <p:cNvSpPr txBox="1"/>
          <p:nvPr/>
        </p:nvSpPr>
        <p:spPr>
          <a:xfrm>
            <a:off x="2697480" y="1143000"/>
            <a:ext cx="178308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244</a:t>
            </a:r>
            <a:endParaRPr/>
          </a:p>
        </p:txBody>
      </p:sp>
      <p:sp>
        <p:nvSpPr>
          <p:cNvPr id="476" name="Google Shape;476;p28"/>
          <p:cNvSpPr txBox="1"/>
          <p:nvPr/>
        </p:nvSpPr>
        <p:spPr>
          <a:xfrm>
            <a:off x="2679192" y="1667256"/>
            <a:ext cx="1819656" cy="371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test universities</a:t>
            </a:r>
            <a:endParaRPr/>
          </a:p>
          <a:p>
            <a:pPr algn="ctr"/>
            <a:r>
              <a:rPr sz="1050" b="0">
                <a:solidFill>
                  <a:srgbClr val="434343"/>
                </a:solidFill>
                <a:latin typeface="Roboto"/>
              </a:rPr>
              <a:t>20%</a:t>
            </a:r>
          </a:p>
        </p:txBody>
      </p:sp>
      <p:sp>
        <p:nvSpPr>
          <p:cNvPr id="477" name="Google Shape;477;p28"/>
          <p:cNvSpPr/>
          <p:nvPr/>
        </p:nvSpPr>
        <p:spPr>
          <a:xfrm>
            <a:off x="4754880" y="1024128"/>
            <a:ext cx="1965960" cy="10515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4754880" y="1024128"/>
            <a:ext cx="1965960" cy="50292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4846320" y="1143000"/>
            <a:ext cx="178308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42</a:t>
            </a:r>
            <a:endParaRPr/>
          </a:p>
        </p:txBody>
      </p:sp>
      <p:sp>
        <p:nvSpPr>
          <p:cNvPr id="480" name="Google Shape;480;p28"/>
          <p:cNvSpPr txBox="1"/>
          <p:nvPr/>
        </p:nvSpPr>
        <p:spPr>
          <a:xfrm>
            <a:off x="4828032" y="1667256"/>
            <a:ext cx="1819656" cy="371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random seed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reproducible</a:t>
            </a: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6903720" y="1024128"/>
            <a:ext cx="1783080" cy="10515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6903720" y="1024128"/>
            <a:ext cx="1783080" cy="5029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 txBox="1"/>
          <p:nvPr/>
        </p:nvSpPr>
        <p:spPr>
          <a:xfrm>
            <a:off x="6995159" y="1143000"/>
            <a:ext cx="16002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22</a:t>
            </a:r>
            <a:endParaRPr/>
          </a:p>
        </p:txBody>
      </p:sp>
      <p:sp>
        <p:nvSpPr>
          <p:cNvPr id="484" name="Google Shape;484;p28"/>
          <p:cNvSpPr txBox="1"/>
          <p:nvPr/>
        </p:nvSpPr>
        <p:spPr>
          <a:xfrm>
            <a:off x="6976872" y="1667256"/>
            <a:ext cx="1636776" cy="371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Bangladeshi universities</a:t>
            </a:r>
            <a:endParaRPr/>
          </a:p>
          <a:p>
            <a:pPr algn="ctr"/>
            <a:r>
              <a:rPr sz="1050" b="0">
                <a:solidFill>
                  <a:srgbClr val="434343"/>
                </a:solidFill>
                <a:latin typeface="Roboto"/>
              </a:rPr>
              <a:t>all held out</a:t>
            </a:r>
          </a:p>
        </p:txBody>
      </p:sp>
      <p:sp>
        <p:nvSpPr>
          <p:cNvPr id="485" name="Google Shape;485;p28"/>
          <p:cNvSpPr txBox="1"/>
          <p:nvPr/>
        </p:nvSpPr>
        <p:spPr>
          <a:xfrm>
            <a:off x="457200" y="2359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Stratified on score band — and every Bangladeshi university forced into the test set</a:t>
            </a:r>
            <a:endParaRPr/>
          </a:p>
        </p:txBody>
      </p:sp>
      <p:graphicFrame>
        <p:nvGraphicFramePr>
          <p:cNvPr id="486" name="Google Shape;486;p28"/>
          <p:cNvGraphicFramePr/>
          <p:nvPr/>
        </p:nvGraphicFramePr>
        <p:xfrm>
          <a:off x="457200" y="26883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1545900"/>
                <a:gridCol w="1091225"/>
                <a:gridCol w="1136675"/>
                <a:gridCol w="1136675"/>
                <a:gridCol w="1136675"/>
                <a:gridCol w="1136675"/>
                <a:gridCol w="1045750"/>
              </a:tblGrid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Score band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&lt; 35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35–50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50–65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65–75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75–85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85 +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10.0 %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17.6 %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12.4 %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25.5 %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28.0 %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6.4 %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9.0 %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17.2 %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11.9 %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26.2 %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29.5 %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6.1 %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487" name="Google Shape;487;p28"/>
          <p:cNvSpPr/>
          <p:nvPr/>
        </p:nvSpPr>
        <p:spPr>
          <a:xfrm>
            <a:off x="457200" y="3639312"/>
            <a:ext cx="8229600" cy="548640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621792" y="3749039"/>
            <a:ext cx="79004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Model selection and the 81-combination grid search both ran on 5-fold cross-validation INSIDE the training set.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457200" y="43342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Largest band drift caused by the country holdout: 1.2 percentage points.</a:t>
            </a:r>
            <a:endParaRPr/>
          </a:p>
        </p:txBody>
      </p:sp>
      <p:sp>
        <p:nvSpPr>
          <p:cNvPr id="490" name="Google Shape;49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Models Used — Twelve Algorithms, Six Families</a:t>
            </a:r>
            <a:endParaRPr/>
          </a:p>
        </p:txBody>
      </p:sp>
      <p:sp>
        <p:nvSpPr>
          <p:cNvPr id="496" name="Google Shape;496;p29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457200" y="1024128"/>
            <a:ext cx="960120" cy="731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9"/>
          <p:cNvSpPr/>
          <p:nvPr/>
        </p:nvSpPr>
        <p:spPr>
          <a:xfrm>
            <a:off x="457200" y="1024128"/>
            <a:ext cx="960120" cy="50292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30352" y="1152144"/>
            <a:ext cx="813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E9E9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Baseline</a:t>
            </a:r>
            <a:endParaRPr sz="1500"/>
          </a:p>
        </p:txBody>
      </p:sp>
      <p:sp>
        <p:nvSpPr>
          <p:cNvPr id="500" name="Google Shape;500;p29"/>
          <p:cNvSpPr txBox="1"/>
          <p:nvPr/>
        </p:nvSpPr>
        <p:spPr>
          <a:xfrm>
            <a:off x="502920" y="1444752"/>
            <a:ext cx="86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Mean predictor</a:t>
            </a:r>
            <a:endParaRPr sz="1500"/>
          </a:p>
        </p:txBody>
      </p:sp>
      <p:sp>
        <p:nvSpPr>
          <p:cNvPr id="501" name="Google Shape;501;p29"/>
          <p:cNvSpPr/>
          <p:nvPr/>
        </p:nvSpPr>
        <p:spPr>
          <a:xfrm>
            <a:off x="1490472" y="1024128"/>
            <a:ext cx="1417320" cy="12801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1490472" y="1024128"/>
            <a:ext cx="1417320" cy="502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9"/>
          <p:cNvSpPr txBox="1"/>
          <p:nvPr/>
        </p:nvSpPr>
        <p:spPr>
          <a:xfrm>
            <a:off x="1563624" y="1152144"/>
            <a:ext cx="1271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5303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Linear</a:t>
            </a:r>
            <a:endParaRPr sz="1500"/>
          </a:p>
        </p:txBody>
      </p:sp>
      <p:sp>
        <p:nvSpPr>
          <p:cNvPr id="504" name="Google Shape;504;p29"/>
          <p:cNvSpPr txBox="1"/>
          <p:nvPr/>
        </p:nvSpPr>
        <p:spPr>
          <a:xfrm>
            <a:off x="1536192" y="1444752"/>
            <a:ext cx="132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Linear Regression</a:t>
            </a:r>
            <a:endParaRPr sz="1500"/>
          </a:p>
        </p:txBody>
      </p:sp>
      <p:sp>
        <p:nvSpPr>
          <p:cNvPr id="505" name="Google Shape;505;p29"/>
          <p:cNvSpPr txBox="1"/>
          <p:nvPr/>
        </p:nvSpPr>
        <p:spPr>
          <a:xfrm>
            <a:off x="1536192" y="1700784"/>
            <a:ext cx="132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Ridge (α=1)</a:t>
            </a:r>
            <a:endParaRPr sz="1500"/>
          </a:p>
        </p:txBody>
      </p:sp>
      <p:sp>
        <p:nvSpPr>
          <p:cNvPr id="506" name="Google Shape;506;p29"/>
          <p:cNvSpPr txBox="1"/>
          <p:nvPr/>
        </p:nvSpPr>
        <p:spPr>
          <a:xfrm>
            <a:off x="1536192" y="1956816"/>
            <a:ext cx="132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Lasso (α=0.1)</a:t>
            </a:r>
            <a:endParaRPr sz="1500"/>
          </a:p>
        </p:txBody>
      </p:sp>
      <p:sp>
        <p:nvSpPr>
          <p:cNvPr id="507" name="Google Shape;507;p29"/>
          <p:cNvSpPr/>
          <p:nvPr/>
        </p:nvSpPr>
        <p:spPr>
          <a:xfrm>
            <a:off x="2980944" y="1024128"/>
            <a:ext cx="960120" cy="731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/>
          <p:nvPr/>
        </p:nvSpPr>
        <p:spPr>
          <a:xfrm>
            <a:off x="2980944" y="1024128"/>
            <a:ext cx="960120" cy="5029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9"/>
          <p:cNvSpPr txBox="1"/>
          <p:nvPr/>
        </p:nvSpPr>
        <p:spPr>
          <a:xfrm>
            <a:off x="3054096" y="1152144"/>
            <a:ext cx="813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D6B2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Instance</a:t>
            </a:r>
            <a:endParaRPr sz="1500"/>
          </a:p>
        </p:txBody>
      </p:sp>
      <p:sp>
        <p:nvSpPr>
          <p:cNvPr id="510" name="Google Shape;510;p29"/>
          <p:cNvSpPr txBox="1"/>
          <p:nvPr/>
        </p:nvSpPr>
        <p:spPr>
          <a:xfrm>
            <a:off x="3026664" y="1444752"/>
            <a:ext cx="86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k-NN (k=5)</a:t>
            </a:r>
            <a:endParaRPr sz="1500"/>
          </a:p>
        </p:txBody>
      </p:sp>
      <p:sp>
        <p:nvSpPr>
          <p:cNvPr id="511" name="Google Shape;511;p29"/>
          <p:cNvSpPr/>
          <p:nvPr/>
        </p:nvSpPr>
        <p:spPr>
          <a:xfrm>
            <a:off x="4014216" y="1024128"/>
            <a:ext cx="1143000" cy="731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69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9"/>
          <p:cNvSpPr/>
          <p:nvPr/>
        </p:nvSpPr>
        <p:spPr>
          <a:xfrm>
            <a:off x="4014216" y="1024128"/>
            <a:ext cx="1143000" cy="5029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4087368" y="1152144"/>
            <a:ext cx="996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69E2E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Kernel</a:t>
            </a:r>
            <a:endParaRPr sz="1500"/>
          </a:p>
        </p:txBody>
      </p:sp>
      <p:sp>
        <p:nvSpPr>
          <p:cNvPr id="514" name="Google Shape;514;p29"/>
          <p:cNvSpPr txBox="1"/>
          <p:nvPr/>
        </p:nvSpPr>
        <p:spPr>
          <a:xfrm>
            <a:off x="4059936" y="1444752"/>
            <a:ext cx="105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SVR (RBF, C=100)</a:t>
            </a:r>
            <a:endParaRPr sz="1500"/>
          </a:p>
        </p:txBody>
      </p:sp>
      <p:sp>
        <p:nvSpPr>
          <p:cNvPr id="515" name="Google Shape;515;p29"/>
          <p:cNvSpPr/>
          <p:nvPr/>
        </p:nvSpPr>
        <p:spPr>
          <a:xfrm>
            <a:off x="5230368" y="1024128"/>
            <a:ext cx="1051560" cy="731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805A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5230368" y="1024128"/>
            <a:ext cx="1051560" cy="50292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9"/>
          <p:cNvSpPr txBox="1"/>
          <p:nvPr/>
        </p:nvSpPr>
        <p:spPr>
          <a:xfrm>
            <a:off x="5303520" y="1152144"/>
            <a:ext cx="905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05AD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Neural</a:t>
            </a:r>
            <a:endParaRPr sz="1500"/>
          </a:p>
        </p:txBody>
      </p:sp>
      <p:sp>
        <p:nvSpPr>
          <p:cNvPr id="518" name="Google Shape;518;p29"/>
          <p:cNvSpPr txBox="1"/>
          <p:nvPr/>
        </p:nvSpPr>
        <p:spPr>
          <a:xfrm>
            <a:off x="5276088" y="1444752"/>
            <a:ext cx="96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MLP (128, 64)</a:t>
            </a:r>
            <a:endParaRPr sz="1500"/>
          </a:p>
        </p:txBody>
      </p:sp>
      <p:sp>
        <p:nvSpPr>
          <p:cNvPr id="519" name="Google Shape;519;p29"/>
          <p:cNvSpPr/>
          <p:nvPr/>
        </p:nvSpPr>
        <p:spPr>
          <a:xfrm>
            <a:off x="6355080" y="1024128"/>
            <a:ext cx="1051560" cy="7315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9"/>
          <p:cNvSpPr/>
          <p:nvPr/>
        </p:nvSpPr>
        <p:spPr>
          <a:xfrm>
            <a:off x="6355080" y="1024128"/>
            <a:ext cx="1051560" cy="5029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6428232" y="1152144"/>
            <a:ext cx="905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55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Tree</a:t>
            </a:r>
            <a:endParaRPr sz="1500"/>
          </a:p>
        </p:txBody>
      </p:sp>
      <p:sp>
        <p:nvSpPr>
          <p:cNvPr id="522" name="Google Shape;522;p29"/>
          <p:cNvSpPr txBox="1"/>
          <p:nvPr/>
        </p:nvSpPr>
        <p:spPr>
          <a:xfrm>
            <a:off x="6400800" y="1444752"/>
            <a:ext cx="96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Decision Tree</a:t>
            </a:r>
            <a:endParaRPr sz="1500"/>
          </a:p>
        </p:txBody>
      </p:sp>
      <p:sp>
        <p:nvSpPr>
          <p:cNvPr id="523" name="Google Shape;523;p29"/>
          <p:cNvSpPr/>
          <p:nvPr/>
        </p:nvSpPr>
        <p:spPr>
          <a:xfrm>
            <a:off x="7479792" y="1024128"/>
            <a:ext cx="1207008" cy="15544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7479792" y="1024128"/>
            <a:ext cx="1207008" cy="50292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7552944" y="1152144"/>
            <a:ext cx="106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Ensemble</a:t>
            </a:r>
            <a:endParaRPr sz="1500"/>
          </a:p>
        </p:txBody>
      </p:sp>
      <p:sp>
        <p:nvSpPr>
          <p:cNvPr id="526" name="Google Shape;526;p29"/>
          <p:cNvSpPr txBox="1"/>
          <p:nvPr/>
        </p:nvSpPr>
        <p:spPr>
          <a:xfrm>
            <a:off x="7525512" y="1444752"/>
            <a:ext cx="111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sz="1500"/>
          </a:p>
        </p:txBody>
      </p:sp>
      <p:sp>
        <p:nvSpPr>
          <p:cNvPr id="527" name="Google Shape;527;p29"/>
          <p:cNvSpPr txBox="1"/>
          <p:nvPr/>
        </p:nvSpPr>
        <p:spPr>
          <a:xfrm>
            <a:off x="7525512" y="1700784"/>
            <a:ext cx="111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Extra Trees</a:t>
            </a:r>
            <a:endParaRPr sz="1500"/>
          </a:p>
        </p:txBody>
      </p:sp>
      <p:sp>
        <p:nvSpPr>
          <p:cNvPr id="528" name="Google Shape;528;p29"/>
          <p:cNvSpPr txBox="1"/>
          <p:nvPr/>
        </p:nvSpPr>
        <p:spPr>
          <a:xfrm>
            <a:off x="7525512" y="1956816"/>
            <a:ext cx="111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Gradient Boosting</a:t>
            </a:r>
            <a:endParaRPr sz="1500"/>
          </a:p>
        </p:txBody>
      </p:sp>
      <p:sp>
        <p:nvSpPr>
          <p:cNvPr id="529" name="Google Shape;529;p29"/>
          <p:cNvSpPr txBox="1"/>
          <p:nvPr/>
        </p:nvSpPr>
        <p:spPr>
          <a:xfrm>
            <a:off x="7525512" y="2212848"/>
            <a:ext cx="111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LightGBM</a:t>
            </a:r>
            <a:endParaRPr sz="1500"/>
          </a:p>
        </p:txBody>
      </p:sp>
      <p:sp>
        <p:nvSpPr>
          <p:cNvPr id="530" name="Google Shape;530;p29"/>
          <p:cNvSpPr txBox="1"/>
          <p:nvPr/>
        </p:nvSpPr>
        <p:spPr>
          <a:xfrm>
            <a:off x="457200" y="2761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Identical training data for every algorithm</a:t>
            </a:r>
            <a:endParaRPr/>
          </a:p>
        </p:txBody>
      </p:sp>
      <p:sp>
        <p:nvSpPr>
          <p:cNvPr id="531" name="Google Shape;531;p29"/>
          <p:cNvSpPr txBox="1"/>
          <p:nvPr/>
        </p:nvSpPr>
        <p:spPr>
          <a:xfrm>
            <a:off x="457200" y="3108960"/>
            <a:ext cx="201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532" name="Google Shape;532;p29"/>
          <p:cNvSpPr txBox="1"/>
          <p:nvPr/>
        </p:nvSpPr>
        <p:spPr>
          <a:xfrm>
            <a:off x="694944" y="3108960"/>
            <a:ext cx="7900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Scaling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is applied inside a pipeline for distance-, kernel- and gradient-based methods — so the scaler is fitted on the training fold only, never the validation fold.</a:t>
            </a:r>
            <a:endParaRPr/>
          </a:p>
        </p:txBody>
      </p:sp>
      <p:sp>
        <p:nvSpPr>
          <p:cNvPr id="533" name="Google Shape;533;p29"/>
          <p:cNvSpPr txBox="1"/>
          <p:nvPr/>
        </p:nvSpPr>
        <p:spPr>
          <a:xfrm>
            <a:off x="457200" y="3633216"/>
            <a:ext cx="201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534" name="Google Shape;534;p29"/>
          <p:cNvSpPr txBox="1"/>
          <p:nvPr/>
        </p:nvSpPr>
        <p:spPr>
          <a:xfrm>
            <a:off x="694944" y="3633216"/>
            <a:ext cx="7900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Tree models get no scaling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— they are invariant to monotone rescaling of inputs.</a:t>
            </a:r>
            <a:endParaRPr/>
          </a:p>
        </p:txBody>
      </p:sp>
      <p:sp>
        <p:nvSpPr>
          <p:cNvPr id="535" name="Google Shape;535;p29"/>
          <p:cNvSpPr txBox="1"/>
          <p:nvPr/>
        </p:nvSpPr>
        <p:spPr>
          <a:xfrm>
            <a:off x="457200" y="3962399"/>
            <a:ext cx="201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536" name="Google Shape;536;p29"/>
          <p:cNvSpPr txBox="1"/>
          <p:nvPr/>
        </p:nvSpPr>
        <p:spPr>
          <a:xfrm>
            <a:off x="694944" y="3962399"/>
            <a:ext cx="7900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k-NN and the single Decision Tree are included deliberately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— they fail in instructive ways.</a:t>
            </a:r>
            <a:endParaRPr/>
          </a:p>
        </p:txBody>
      </p:sp>
      <p:sp>
        <p:nvSpPr>
          <p:cNvPr id="537" name="Google Shape;53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Comparison Between Models</a:t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7024700" y="1115575"/>
            <a:ext cx="190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Read this as</a:t>
            </a:r>
            <a:endParaRPr/>
          </a:p>
        </p:txBody>
      </p:sp>
      <p:sp>
        <p:nvSpPr>
          <p:cNvPr id="546" name="Google Shape;546;p30"/>
          <p:cNvSpPr txBox="1"/>
          <p:nvPr/>
        </p:nvSpPr>
        <p:spPr>
          <a:xfrm>
            <a:off x="6446520" y="1444752"/>
            <a:ext cx="201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•</a:t>
            </a:r>
            <a:endParaRPr/>
          </a:p>
        </p:txBody>
      </p:sp>
      <p:sp>
        <p:nvSpPr>
          <p:cNvPr id="547" name="Google Shape;547;p30"/>
          <p:cNvSpPr txBox="1"/>
          <p:nvPr/>
        </p:nvSpPr>
        <p:spPr>
          <a:xfrm>
            <a:off x="7226875" y="1444759"/>
            <a:ext cx="170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Every algorithm beats the mean baseline decisively.</a:t>
            </a:r>
            <a:endParaRPr/>
          </a:p>
        </p:txBody>
      </p:sp>
      <p:sp>
        <p:nvSpPr>
          <p:cNvPr id="548" name="Google Shape;548;p30"/>
          <p:cNvSpPr txBox="1"/>
          <p:nvPr/>
        </p:nvSpPr>
        <p:spPr>
          <a:xfrm>
            <a:off x="6446520" y="1926336"/>
            <a:ext cx="201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•</a:t>
            </a:r>
            <a:endParaRPr/>
          </a:p>
        </p:txBody>
      </p:sp>
      <p:sp>
        <p:nvSpPr>
          <p:cNvPr id="549" name="Google Shape;549;p30"/>
          <p:cNvSpPr txBox="1"/>
          <p:nvPr/>
        </p:nvSpPr>
        <p:spPr>
          <a:xfrm>
            <a:off x="7226875" y="1926343"/>
            <a:ext cx="1702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Gradient-boosted ensembles lead on all four metrics.</a:t>
            </a:r>
            <a:endParaRPr/>
          </a:p>
        </p:txBody>
      </p:sp>
      <p:sp>
        <p:nvSpPr>
          <p:cNvPr id="550" name="Google Shape;550;p30"/>
          <p:cNvSpPr txBox="1"/>
          <p:nvPr/>
        </p:nvSpPr>
        <p:spPr>
          <a:xfrm>
            <a:off x="6446520" y="2407920"/>
            <a:ext cx="201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•</a:t>
            </a:r>
            <a:endParaRPr/>
          </a:p>
        </p:txBody>
      </p:sp>
      <p:sp>
        <p:nvSpPr>
          <p:cNvPr id="551" name="Google Shape;551;p30"/>
          <p:cNvSpPr txBox="1"/>
          <p:nvPr/>
        </p:nvSpPr>
        <p:spPr>
          <a:xfrm>
            <a:off x="7226875" y="2407927"/>
            <a:ext cx="1702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k-NN is the clear worst — in a 71-dimensional, mostly binary space Euclidean distance is a poor measure of similarity. The curse of dimensionality.</a:t>
            </a:r>
            <a:endParaRPr/>
          </a:p>
        </p:txBody>
      </p:sp>
      <p:sp>
        <p:nvSpPr>
          <p:cNvPr id="552" name="Google Shape;552;p30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R² spans 0.768 to 0.990 — on identical data. The next section explains why.</a:t>
            </a:r>
            <a:endParaRPr/>
          </a:p>
        </p:txBody>
      </p:sp>
      <p:sp>
        <p:nvSpPr>
          <p:cNvPr id="553" name="Google Shape;55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4" name="Picture 553" descr="fig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05685"/>
            <a:ext cx="6350999" cy="30484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1"/>
          <p:cNvSpPr txBox="1"/>
          <p:nvPr>
            <p:ph type="title"/>
          </p:nvPr>
        </p:nvSpPr>
        <p:spPr>
          <a:xfrm>
            <a:off x="457200" y="1515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Weka Equivalent Model Results</a:t>
            </a:r>
            <a:endParaRPr/>
          </a:p>
        </p:txBody>
      </p:sp>
      <p:sp>
        <p:nvSpPr>
          <p:cNvPr id="559" name="Google Shape;55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0" name="Google Shape;560;p31"/>
          <p:cNvSpPr txBox="1"/>
          <p:nvPr/>
        </p:nvSpPr>
        <p:spPr>
          <a:xfrm>
            <a:off x="581350" y="2038250"/>
            <a:ext cx="22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Mean Baseline → ZeroR </a:t>
            </a:r>
            <a:endParaRPr/>
          </a:p>
        </p:txBody>
      </p:sp>
      <p:pic>
        <p:nvPicPr>
          <p:cNvPr id="561" name="Google Shape;5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00" y="957100"/>
            <a:ext cx="360890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9325" y="921625"/>
            <a:ext cx="3379075" cy="11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1"/>
          <p:cNvSpPr txBox="1"/>
          <p:nvPr/>
        </p:nvSpPr>
        <p:spPr>
          <a:xfrm>
            <a:off x="4578863" y="2082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SVR with RBF Kernel → SMOreg </a:t>
            </a:r>
            <a:endParaRPr/>
          </a:p>
        </p:txBody>
      </p:sp>
      <p:pic>
        <p:nvPicPr>
          <p:cNvPr id="564" name="Google Shape;56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275" y="2698900"/>
            <a:ext cx="3579551" cy="12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1"/>
          <p:cNvSpPr txBox="1"/>
          <p:nvPr/>
        </p:nvSpPr>
        <p:spPr>
          <a:xfrm>
            <a:off x="1128300" y="4024475"/>
            <a:ext cx="22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RandomForest</a:t>
            </a:r>
            <a:endParaRPr/>
          </a:p>
        </p:txBody>
      </p:sp>
      <p:pic>
        <p:nvPicPr>
          <p:cNvPr id="566" name="Google Shape;56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9325" y="2664975"/>
            <a:ext cx="4019314" cy="12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1"/>
          <p:cNvSpPr txBox="1"/>
          <p:nvPr/>
        </p:nvSpPr>
        <p:spPr>
          <a:xfrm>
            <a:off x="5335475" y="4103800"/>
            <a:ext cx="22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Regression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2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Cross-Validation — Is the Ordering Real?</a:t>
            </a:r>
            <a:endParaRPr/>
          </a:p>
        </p:txBody>
      </p:sp>
      <p:sp>
        <p:nvSpPr>
          <p:cNvPr id="573" name="Google Shape;573;p32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2"/>
          <p:cNvSpPr txBox="1"/>
          <p:nvPr/>
        </p:nvSpPr>
        <p:spPr>
          <a:xfrm>
            <a:off x="6938100" y="1079000"/>
            <a:ext cx="2034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5-fold, training set only</a:t>
            </a:r>
            <a:endParaRPr/>
          </a:p>
        </p:txBody>
      </p:sp>
      <p:sp>
        <p:nvSpPr>
          <p:cNvPr id="576" name="Google Shape;576;p32"/>
          <p:cNvSpPr txBox="1"/>
          <p:nvPr/>
        </p:nvSpPr>
        <p:spPr>
          <a:xfrm>
            <a:off x="6938100" y="1371608"/>
            <a:ext cx="20349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Split the 981 training universities into 5 parts. Train on 4, validate on 1. Repeat 5 times and average.</a:t>
            </a:r>
            <a:endParaRPr/>
          </a:p>
          <a:p>
            <a:pPr algn="l"/>
            <a:r>
              <a:rPr sz="1050" b="0">
                <a:solidFill>
                  <a:srgbClr val="434343"/>
                </a:solidFill>
                <a:latin typeface="Roboto"/>
              </a:rPr>
              <a:t/>
            </a:r>
          </a:p>
          <a:p>
            <a:pPr algn="l"/>
            <a:r>
              <a:rPr sz="1050" b="0">
                <a:solidFill>
                  <a:srgbClr val="434343"/>
                </a:solidFill>
                <a:latin typeface="Roboto"/>
              </a:rPr>
              <a:t>Every university is used for validation exactly once.</a:t>
            </a:r>
          </a:p>
        </p:txBody>
      </p:sp>
      <p:sp>
        <p:nvSpPr>
          <p:cNvPr id="577" name="Google Shape;577;p32"/>
          <p:cNvSpPr/>
          <p:nvPr/>
        </p:nvSpPr>
        <p:spPr>
          <a:xfrm>
            <a:off x="6938100" y="2724922"/>
            <a:ext cx="2034900" cy="8961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2"/>
          <p:cNvSpPr/>
          <p:nvPr/>
        </p:nvSpPr>
        <p:spPr>
          <a:xfrm>
            <a:off x="6938100" y="2724922"/>
            <a:ext cx="2034900" cy="504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2"/>
          <p:cNvSpPr txBox="1"/>
          <p:nvPr/>
        </p:nvSpPr>
        <p:spPr>
          <a:xfrm>
            <a:off x="7014887" y="2843794"/>
            <a:ext cx="188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ρ = 0.909</a:t>
            </a:r>
            <a:endParaRPr/>
          </a:p>
        </p:txBody>
      </p:sp>
      <p:sp>
        <p:nvSpPr>
          <p:cNvPr id="580" name="Google Shape;580;p32"/>
          <p:cNvSpPr txBox="1"/>
          <p:nvPr/>
        </p:nvSpPr>
        <p:spPr>
          <a:xfrm>
            <a:off x="6999530" y="3238002"/>
            <a:ext cx="1912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agreement between the CV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ordering and the test ordering</a:t>
            </a:r>
            <a:endParaRPr/>
          </a:p>
        </p:txBody>
      </p:sp>
      <p:sp>
        <p:nvSpPr>
          <p:cNvPr id="581" name="Google Shape;581;p32"/>
          <p:cNvSpPr/>
          <p:nvPr/>
        </p:nvSpPr>
        <p:spPr>
          <a:xfrm>
            <a:off x="457200" y="3858768"/>
            <a:ext cx="8229600" cy="566928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2"/>
          <p:cNvSpPr txBox="1"/>
          <p:nvPr/>
        </p:nvSpPr>
        <p:spPr>
          <a:xfrm>
            <a:off x="621792" y="3959352"/>
            <a:ext cx="7900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LightGBM is not only the best but the most stable — 0.9880 ± 0.0018, the smallest spread of any model.</a:t>
            </a:r>
            <a:endParaRPr/>
          </a:p>
        </p:txBody>
      </p:sp>
      <p:sp>
        <p:nvSpPr>
          <p:cNvPr id="583" name="Google Shape;58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4" name="Picture 583" descr="fig_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821" y="1024125"/>
            <a:ext cx="4673532" cy="27106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Tuning and Final Evaluation</a:t>
            </a:r>
            <a:endParaRPr/>
          </a:p>
        </p:txBody>
      </p:sp>
      <p:sp>
        <p:nvSpPr>
          <p:cNvPr id="589" name="Google Shape;589;p33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3"/>
          <p:cNvSpPr txBox="1"/>
          <p:nvPr/>
        </p:nvSpPr>
        <p:spPr>
          <a:xfrm>
            <a:off x="457200" y="102412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Grid search — 81 combinations, 5-fold CV</a:t>
            </a:r>
            <a:endParaRPr/>
          </a:p>
        </p:txBody>
      </p:sp>
      <p:graphicFrame>
        <p:nvGraphicFramePr>
          <p:cNvPr id="591" name="Google Shape;591;p33"/>
          <p:cNvGraphicFramePr/>
          <p:nvPr/>
        </p:nvGraphicFramePr>
        <p:xfrm>
          <a:off x="457200" y="1335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1600200"/>
                <a:gridCol w="1508750"/>
                <a:gridCol w="8229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Parameter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Searched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Chosen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n_estimators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300 · 600 · 900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learning_rate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0.03 · 0.05 · 0.1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num_leaves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 · 31 · 63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min_child_samples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 · 10 · 20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92" name="Google Shape;592;p33"/>
          <p:cNvSpPr txBox="1"/>
          <p:nvPr/>
        </p:nvSpPr>
        <p:spPr>
          <a:xfrm>
            <a:off x="457200" y="2615184"/>
            <a:ext cx="3931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More trees (900) but simpler ones (15 leaves) — many weak learners, the classic boosting configuration.</a:t>
            </a:r>
            <a:endParaRPr/>
          </a:p>
        </p:txBody>
      </p:sp>
      <p:sp>
        <p:nvSpPr>
          <p:cNvPr id="593" name="Google Shape;593;p33"/>
          <p:cNvSpPr txBox="1"/>
          <p:nvPr/>
        </p:nvSpPr>
        <p:spPr>
          <a:xfrm>
            <a:off x="470916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Held-out test set — used once</a:t>
            </a: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4709160" y="1335024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3"/>
          <p:cNvSpPr/>
          <p:nvPr/>
        </p:nvSpPr>
        <p:spPr>
          <a:xfrm>
            <a:off x="4709160" y="1335024"/>
            <a:ext cx="1920240" cy="50292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3"/>
          <p:cNvSpPr txBox="1"/>
          <p:nvPr/>
        </p:nvSpPr>
        <p:spPr>
          <a:xfrm>
            <a:off x="4800600" y="1453896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0.9925</a:t>
            </a:r>
            <a:endParaRPr/>
          </a:p>
        </p:txBody>
      </p:sp>
      <p:sp>
        <p:nvSpPr>
          <p:cNvPr id="597" name="Google Shape;597;p33"/>
          <p:cNvSpPr txBox="1"/>
          <p:nvPr/>
        </p:nvSpPr>
        <p:spPr>
          <a:xfrm>
            <a:off x="4782312" y="1913128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R²</a:t>
            </a:r>
            <a:endParaRPr/>
          </a:p>
        </p:txBody>
      </p:sp>
      <p:sp>
        <p:nvSpPr>
          <p:cNvPr id="598" name="Google Shape;598;p33"/>
          <p:cNvSpPr/>
          <p:nvPr/>
        </p:nvSpPr>
        <p:spPr>
          <a:xfrm>
            <a:off x="6766560" y="1335024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/>
          <p:nvPr/>
        </p:nvSpPr>
        <p:spPr>
          <a:xfrm>
            <a:off x="6766560" y="1335024"/>
            <a:ext cx="1920240" cy="50292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3"/>
          <p:cNvSpPr txBox="1"/>
          <p:nvPr/>
        </p:nvSpPr>
        <p:spPr>
          <a:xfrm>
            <a:off x="6858000" y="1453896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1.15</a:t>
            </a:r>
            <a:endParaRPr/>
          </a:p>
        </p:txBody>
      </p:sp>
      <p:sp>
        <p:nvSpPr>
          <p:cNvPr id="601" name="Google Shape;601;p33"/>
          <p:cNvSpPr txBox="1"/>
          <p:nvPr/>
        </p:nvSpPr>
        <p:spPr>
          <a:xfrm>
            <a:off x="6839712" y="1913128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MAE (points)</a:t>
            </a:r>
            <a:endParaRPr/>
          </a:p>
        </p:txBody>
      </p:sp>
      <p:sp>
        <p:nvSpPr>
          <p:cNvPr id="602" name="Google Shape;602;p33"/>
          <p:cNvSpPr/>
          <p:nvPr/>
        </p:nvSpPr>
        <p:spPr>
          <a:xfrm>
            <a:off x="4709160" y="2359152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3"/>
          <p:cNvSpPr/>
          <p:nvPr/>
        </p:nvSpPr>
        <p:spPr>
          <a:xfrm>
            <a:off x="4709160" y="2359152"/>
            <a:ext cx="1920240" cy="5029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3"/>
          <p:cNvSpPr txBox="1"/>
          <p:nvPr/>
        </p:nvSpPr>
        <p:spPr>
          <a:xfrm>
            <a:off x="4800600" y="2478024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0.9918</a:t>
            </a:r>
            <a:endParaRPr/>
          </a:p>
        </p:txBody>
      </p:sp>
      <p:sp>
        <p:nvSpPr>
          <p:cNvPr id="605" name="Google Shape;605;p33"/>
          <p:cNvSpPr txBox="1"/>
          <p:nvPr/>
        </p:nvSpPr>
        <p:spPr>
          <a:xfrm>
            <a:off x="4782312" y="2937256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Spearman ρ</a:t>
            </a:r>
            <a:endParaRPr/>
          </a:p>
        </p:txBody>
      </p:sp>
      <p:sp>
        <p:nvSpPr>
          <p:cNvPr id="606" name="Google Shape;606;p33"/>
          <p:cNvSpPr/>
          <p:nvPr/>
        </p:nvSpPr>
        <p:spPr>
          <a:xfrm>
            <a:off x="6766560" y="2359152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3"/>
          <p:cNvSpPr/>
          <p:nvPr/>
        </p:nvSpPr>
        <p:spPr>
          <a:xfrm>
            <a:off x="6766560" y="2359152"/>
            <a:ext cx="1920240" cy="5029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6858000" y="2478024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84.8 %</a:t>
            </a:r>
            <a:endParaRPr/>
          </a:p>
        </p:txBody>
      </p:sp>
      <p:sp>
        <p:nvSpPr>
          <p:cNvPr id="609" name="Google Shape;609;p33"/>
          <p:cNvSpPr txBox="1"/>
          <p:nvPr/>
        </p:nvSpPr>
        <p:spPr>
          <a:xfrm>
            <a:off x="6839712" y="2937256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within ±2 points</a:t>
            </a:r>
            <a:endParaRPr/>
          </a:p>
        </p:txBody>
      </p:sp>
      <p:sp>
        <p:nvSpPr>
          <p:cNvPr id="610" name="Google Shape;610;p33"/>
          <p:cNvSpPr/>
          <p:nvPr/>
        </p:nvSpPr>
        <p:spPr>
          <a:xfrm>
            <a:off x="457200" y="3529584"/>
            <a:ext cx="8229600" cy="658368"/>
          </a:xfrm>
          <a:prstGeom prst="roundRect">
            <a:avLst>
              <a:gd fmla="val 8000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621792" y="3639312"/>
            <a:ext cx="79004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 244 universities the model had never seen — including all 22 from Bangladesh — its prediction was on average within 1.15 points of the true score on a 0–100 scale.</a:t>
            </a:r>
            <a:endParaRPr/>
          </a:p>
        </p:txBody>
      </p:sp>
      <p:sp>
        <p:nvSpPr>
          <p:cNvPr id="612" name="Google Shape;612;p33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RMSE 1.54 · Kendall τ 0.930 · 99.6% of predictions within ±5 points.</a:t>
            </a:r>
            <a:endParaRPr/>
          </a:p>
        </p:txBody>
      </p:sp>
      <p:sp>
        <p:nvSpPr>
          <p:cNvPr id="613" name="Google Shape;61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8" name="Google Shape;588;p3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Bangladesh Case Study — 22 Universities the Model Never Saw</a:t>
            </a:r>
            <a:endParaRPr/>
          </a:p>
        </p:txBody>
      </p:sp>
      <p:sp>
        <p:nvSpPr>
          <p:cNvPr id="589" name="Google Shape;589;p33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3"/>
          <p:cNvSpPr txBox="1"/>
          <p:nvPr/>
        </p:nvSpPr>
        <p:spPr>
          <a:xfrm>
            <a:off x="457200" y="102412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Accuracy on the country holdout</a:t>
            </a:r>
            <a:endParaRPr/>
          </a:p>
        </p:txBody>
      </p:sp>
      <p:graphicFrame>
        <p:nvGraphicFramePr>
          <p:cNvPr id="591" name="Google Shape;591;p33"/>
          <p:cNvGraphicFramePr/>
          <p:nvPr/>
        </p:nvGraphicFramePr>
        <p:xfrm>
          <a:off x="457200" y="1335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1600200"/>
                <a:gridCol w="1508750"/>
                <a:gridCol w="8229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Metric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Bangladesh (22)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Rest of test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 (points)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1.20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R²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0.9963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Spearman ρ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0.9898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Largest error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1.40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92" name="Google Shape;592;p33"/>
          <p:cNvSpPr txBox="1"/>
          <p:nvPr/>
        </p:nvSpPr>
        <p:spPr>
          <a:xfrm>
            <a:off x="457200" y="2615184"/>
            <a:ext cx="3931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Every Bangladeshi university was removed from training by construction; the build script asserts none reaches the training set.</a:t>
            </a:r>
            <a:endParaRPr/>
          </a:p>
        </p:txBody>
      </p:sp>
      <p:sp>
        <p:nvSpPr>
          <p:cNvPr id="593" name="Google Shape;593;p33"/>
          <p:cNvSpPr txBox="1"/>
          <p:nvPr/>
        </p:nvSpPr>
        <p:spPr>
          <a:xfrm>
            <a:off x="470916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strictest generalisation test in the project</a:t>
            </a: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4709160" y="1335024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3"/>
          <p:cNvSpPr/>
          <p:nvPr/>
        </p:nvSpPr>
        <p:spPr>
          <a:xfrm>
            <a:off x="4709160" y="1335024"/>
            <a:ext cx="1920240" cy="50292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3"/>
          <p:cNvSpPr txBox="1"/>
          <p:nvPr/>
        </p:nvSpPr>
        <p:spPr>
          <a:xfrm>
            <a:off x="4800600" y="1453896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0.65</a:t>
            </a:r>
            <a:endParaRPr/>
          </a:p>
        </p:txBody>
      </p:sp>
      <p:sp>
        <p:nvSpPr>
          <p:cNvPr id="597" name="Google Shape;597;p33"/>
          <p:cNvSpPr txBox="1"/>
          <p:nvPr/>
        </p:nvSpPr>
        <p:spPr>
          <a:xfrm>
            <a:off x="4782312" y="1913128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MAE (points)</a:t>
            </a:r>
            <a:endParaRPr/>
          </a:p>
        </p:txBody>
      </p:sp>
      <p:sp>
        <p:nvSpPr>
          <p:cNvPr id="598" name="Google Shape;598;p33"/>
          <p:cNvSpPr/>
          <p:nvPr/>
        </p:nvSpPr>
        <p:spPr>
          <a:xfrm>
            <a:off x="6766560" y="1335024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/>
          <p:nvPr/>
        </p:nvSpPr>
        <p:spPr>
          <a:xfrm>
            <a:off x="6766560" y="1335024"/>
            <a:ext cx="1920240" cy="50292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3"/>
          <p:cNvSpPr txBox="1"/>
          <p:nvPr/>
        </p:nvSpPr>
        <p:spPr>
          <a:xfrm>
            <a:off x="6858000" y="1453896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0.996</a:t>
            </a:r>
            <a:endParaRPr/>
          </a:p>
        </p:txBody>
      </p:sp>
      <p:sp>
        <p:nvSpPr>
          <p:cNvPr id="601" name="Google Shape;601;p33"/>
          <p:cNvSpPr txBox="1"/>
          <p:nvPr/>
        </p:nvSpPr>
        <p:spPr>
          <a:xfrm>
            <a:off x="6839712" y="1913128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R²</a:t>
            </a:r>
            <a:endParaRPr/>
          </a:p>
        </p:txBody>
      </p:sp>
      <p:sp>
        <p:nvSpPr>
          <p:cNvPr id="602" name="Google Shape;602;p33"/>
          <p:cNvSpPr/>
          <p:nvPr/>
        </p:nvSpPr>
        <p:spPr>
          <a:xfrm>
            <a:off x="4709160" y="2359152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3"/>
          <p:cNvSpPr/>
          <p:nvPr/>
        </p:nvSpPr>
        <p:spPr>
          <a:xfrm>
            <a:off x="4709160" y="2359152"/>
            <a:ext cx="1920240" cy="5029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3"/>
          <p:cNvSpPr txBox="1"/>
          <p:nvPr/>
        </p:nvSpPr>
        <p:spPr>
          <a:xfrm>
            <a:off x="4800600" y="2478024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0.990</a:t>
            </a:r>
            <a:endParaRPr/>
          </a:p>
        </p:txBody>
      </p:sp>
      <p:sp>
        <p:nvSpPr>
          <p:cNvPr id="605" name="Google Shape;605;p33"/>
          <p:cNvSpPr txBox="1"/>
          <p:nvPr/>
        </p:nvSpPr>
        <p:spPr>
          <a:xfrm>
            <a:off x="4782312" y="2937256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Spearman ρ</a:t>
            </a:r>
            <a:endParaRPr/>
          </a:p>
        </p:txBody>
      </p:sp>
      <p:sp>
        <p:nvSpPr>
          <p:cNvPr id="606" name="Google Shape;606;p33"/>
          <p:cNvSpPr/>
          <p:nvPr/>
        </p:nvSpPr>
        <p:spPr>
          <a:xfrm>
            <a:off x="6766560" y="2359152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3"/>
          <p:cNvSpPr/>
          <p:nvPr/>
        </p:nvSpPr>
        <p:spPr>
          <a:xfrm>
            <a:off x="6766560" y="2359152"/>
            <a:ext cx="1920240" cy="5029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6858000" y="2478024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100 %</a:t>
            </a:r>
            <a:endParaRPr/>
          </a:p>
        </p:txBody>
      </p:sp>
      <p:sp>
        <p:nvSpPr>
          <p:cNvPr id="609" name="Google Shape;609;p33"/>
          <p:cNvSpPr txBox="1"/>
          <p:nvPr/>
        </p:nvSpPr>
        <p:spPr>
          <a:xfrm>
            <a:off x="6839712" y="2937256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within ±2 points</a:t>
            </a:r>
            <a:endParaRPr/>
          </a:p>
        </p:txBody>
      </p:sp>
      <p:sp>
        <p:nvSpPr>
          <p:cNvPr id="610" name="Google Shape;610;p33"/>
          <p:cNvSpPr/>
          <p:nvPr/>
        </p:nvSpPr>
        <p:spPr>
          <a:xfrm>
            <a:off x="457200" y="3529584"/>
            <a:ext cx="8229600" cy="658368"/>
          </a:xfrm>
          <a:prstGeom prst="roundRect">
            <a:avLst>
              <a:gd fmla="val 8000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621792" y="3639312"/>
            <a:ext cx="79004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random 20% test set still lets a model lean on near-neighbours — another campus on the same template, crawled by the same collector. Here there are none.</a:t>
            </a:r>
            <a:endParaRPr/>
          </a:p>
        </p:txBody>
      </p:sp>
      <p:sp>
        <p:nvSpPr>
          <p:cNvPr id="612" name="Google Shape;612;p33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Largest single error 1.40 points · the model is more accurate here than on the rest of the test set, because 17 of the 22 sit in a dense, well-populated band.</a:t>
            </a:r>
            <a:endParaRPr/>
          </a:p>
        </p:txBody>
      </p:sp>
      <p:sp>
        <p:nvSpPr>
          <p:cNvPr id="613" name="Google Shape;61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7" name="Google Shape;657;p3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Bangladesh — Where the Websites Gain and Lose</a:t>
            </a:r>
            <a:endParaRPr/>
          </a:p>
        </p:txBody>
      </p:sp>
      <p:sp>
        <p:nvSpPr>
          <p:cNvPr id="658" name="Google Shape;658;p37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7"/>
          <p:cNvSpPr txBox="1"/>
          <p:nvPr/>
        </p:nvSpPr>
        <p:spPr>
          <a:xfrm>
            <a:off x="45720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National ranking (every position out-of-sample)</a:t>
            </a:r>
            <a:endParaRPr/>
          </a:p>
        </p:txBody>
      </p:sp>
      <p:graphicFrame>
        <p:nvGraphicFramePr>
          <p:cNvPr id="660" name="Google Shape;660;p37"/>
          <p:cNvGraphicFramePr/>
          <p:nvPr/>
        </p:nvGraphicFramePr>
        <p:xfrm>
          <a:off x="45720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411475"/>
                <a:gridCol w="2743200"/>
                <a:gridCol w="82295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#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Score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North South 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86.8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RUET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83.8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BRAC 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KUET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CUET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81.4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BUET   (grade B)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66.8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20=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BAU · East West · IUT  (gated)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45.0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61" name="Google Shape;661;p37"/>
          <p:cNvSpPr txBox="1"/>
          <p:nvPr/>
        </p:nvSpPr>
        <p:spPr>
          <a:xfrm>
            <a:off x="470916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Sub-score profile vs the global top 100</a:t>
            </a:r>
            <a:endParaRPr/>
          </a:p>
        </p:txBody>
      </p:sp>
      <p:graphicFrame>
        <p:nvGraphicFramePr>
          <p:cNvPr id="662" name="Google Shape;662;p37"/>
          <p:cNvGraphicFramePr/>
          <p:nvPr/>
        </p:nvGraphicFramePr>
        <p:xfrm>
          <a:off x="470916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384050"/>
                <a:gridCol w="2148850"/>
                <a:gridCol w="685800"/>
                <a:gridCol w="75895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Dim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Top 100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Gap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D₁ Academic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0.943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−1.40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D₂ Admission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0.585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0.811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−4.97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D₃ Currency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0.765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0.865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−1.50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D₄ Navigation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0.594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0.780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−2.79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D₅ Usability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0.688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0.833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−1.45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D₆ Technical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0.866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0.862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+0.03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D₇ Identity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0.813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0.811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+0.01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63" name="Google Shape;663;p37"/>
          <p:cNvSpPr/>
          <p:nvPr/>
        </p:nvSpPr>
        <p:spPr>
          <a:xfrm>
            <a:off x="457200" y="3310128"/>
            <a:ext cx="8229600" cy="548640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621792" y="3410712"/>
            <a:ext cx="7900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Mean 71.8 against a world mean of 63.9 — comfortably above average, with 6 of the 22 inside the global top 200.</a:t>
            </a:r>
            <a:endParaRPr/>
          </a:p>
        </p:txBody>
      </p:sp>
      <p:sp>
        <p:nvSpPr>
          <p:cNvPr id="665" name="Google Shape;665;p37"/>
          <p:cNvSpPr/>
          <p:nvPr/>
        </p:nvSpPr>
        <p:spPr>
          <a:xfrm>
            <a:off x="457200" y="3968496"/>
            <a:ext cx="8229600" cy="603504"/>
          </a:xfrm>
          <a:prstGeom prst="roundRect">
            <a:avLst>
              <a:gd fmla="val 8000" name="adj"/>
            </a:avLst>
          </a:prstGeom>
          <a:solidFill>
            <a:srgbClr val="FD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7"/>
          <p:cNvSpPr txBox="1"/>
          <p:nvPr/>
        </p:nvSpPr>
        <p:spPr>
          <a:xfrm>
            <a:off x="621792" y="4069080"/>
            <a:ext cx="79004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gap to the top 100 is 12.1 points, and 7.8 of it is admission support and navigation: a menu, a search box, a breadcrumb trail and a linked admissions policy.</a:t>
            </a:r>
            <a:endParaRPr/>
          </a:p>
        </p:txBody>
      </p:sp>
      <p:sp>
        <p:nvSpPr>
          <p:cNvPr id="667" name="Google Shape;66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Why the Algorithms Differ</a:t>
            </a:r>
            <a:endParaRPr/>
          </a:p>
        </p:txBody>
      </p:sp>
      <p:sp>
        <p:nvSpPr>
          <p:cNvPr id="619" name="Google Shape;619;p34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4"/>
          <p:cNvSpPr/>
          <p:nvPr/>
        </p:nvSpPr>
        <p:spPr>
          <a:xfrm>
            <a:off x="457200" y="1024128"/>
            <a:ext cx="8229600" cy="548640"/>
          </a:xfrm>
          <a:prstGeom prst="roundRect">
            <a:avLst>
              <a:gd fmla="val 8000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4"/>
          <p:cNvSpPr txBox="1"/>
          <p:nvPr/>
        </p:nvSpPr>
        <p:spPr>
          <a:xfrm>
            <a:off x="603504" y="1152144"/>
            <a:ext cx="79369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All twelve saw identical data — yet R² ranged from 0.77 to 0.99.  Where does the gap come from?</a:t>
            </a:r>
            <a:endParaRPr/>
          </a:p>
        </p:txBody>
      </p:sp>
      <p:sp>
        <p:nvSpPr>
          <p:cNvPr id="623" name="Google Shape;623;p34"/>
          <p:cNvSpPr/>
          <p:nvPr/>
        </p:nvSpPr>
        <p:spPr>
          <a:xfrm>
            <a:off x="457200" y="4078224"/>
            <a:ext cx="8229600" cy="731520"/>
          </a:xfrm>
          <a:prstGeom prst="roundRect">
            <a:avLst>
              <a:gd fmla="val 8000" name="adj"/>
            </a:avLst>
          </a:prstGeom>
          <a:solidFill>
            <a:srgbClr val="FD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4"/>
          <p:cNvSpPr txBox="1"/>
          <p:nvPr/>
        </p:nvSpPr>
        <p:spPr>
          <a:xfrm>
            <a:off x="621792" y="4169663"/>
            <a:ext cx="79004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 linear model computes a weighted sum. It cannot express “whatever else is true, stop here”. A decision tree can — a split IS that statement.</a:t>
            </a:r>
            <a:endParaRPr/>
          </a:p>
          <a:p>
            <a:pPr algn="l"/>
            <a:r>
              <a:rPr sz="1200" b="0">
                <a:solidFill>
                  <a:srgbClr val="212121"/>
                </a:solidFill>
                <a:latin typeface="Roboto"/>
              </a:rPr>
              <a:t>On the 35 gated test universities: Linear Regression MAE 8.88 vs 1.85 elsewhere (4.8×). LightGBM 0.77 vs 1.40.</a:t>
            </a:r>
          </a:p>
        </p:txBody>
      </p:sp>
      <p:sp>
        <p:nvSpPr>
          <p:cNvPr id="625" name="Google Shape;62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6" name="Picture 625" descr="fig_g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182" y="1645920"/>
            <a:ext cx="5577635" cy="23797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Drives a Website's Score</a:t>
            </a:r>
            <a:endParaRPr/>
          </a:p>
        </p:txBody>
      </p:sp>
      <p:sp>
        <p:nvSpPr>
          <p:cNvPr id="631" name="Google Shape;631;p35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5"/>
          <p:cNvSpPr txBox="1"/>
          <p:nvPr/>
        </p:nvSpPr>
        <p:spPr>
          <a:xfrm>
            <a:off x="6400800" y="107899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Measured by gain</a:t>
            </a:r>
            <a:endParaRPr/>
          </a:p>
        </p:txBody>
      </p:sp>
      <p:sp>
        <p:nvSpPr>
          <p:cNvPr id="634" name="Google Shape;634;p35"/>
          <p:cNvSpPr txBox="1"/>
          <p:nvPr/>
        </p:nvSpPr>
        <p:spPr>
          <a:xfrm>
            <a:off x="6400800" y="135331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How much each split reduced the loss — not how often a feature was used.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Under the default split-count measure, load time looked like the top feature. Under gain it is below 1%.</a:t>
            </a:r>
            <a:endParaRPr/>
          </a:p>
        </p:txBody>
      </p:sp>
      <p:sp>
        <p:nvSpPr>
          <p:cNvPr id="635" name="Google Shape;635;p35"/>
          <p:cNvSpPr/>
          <p:nvPr/>
        </p:nvSpPr>
        <p:spPr>
          <a:xfrm>
            <a:off x="6400800" y="2395728"/>
            <a:ext cx="2286000" cy="122529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5"/>
          <p:cNvSpPr/>
          <p:nvPr/>
        </p:nvSpPr>
        <p:spPr>
          <a:xfrm>
            <a:off x="6400800" y="2395728"/>
            <a:ext cx="2286000" cy="502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5"/>
          <p:cNvSpPr txBox="1"/>
          <p:nvPr/>
        </p:nvSpPr>
        <p:spPr>
          <a:xfrm>
            <a:off x="6492240" y="25237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303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model found the gate</a:t>
            </a:r>
            <a:endParaRPr/>
          </a:p>
        </p:txBody>
      </p:sp>
      <p:sp>
        <p:nvSpPr>
          <p:cNvPr id="638" name="Google Shape;638;p35"/>
          <p:cNvSpPr txBox="1"/>
          <p:nvPr/>
        </p:nvSpPr>
        <p:spPr>
          <a:xfrm>
            <a:off x="6492240" y="2798064"/>
            <a:ext cx="21031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a02_primary_nav = 24.9% of all gain — far beyond its 3.75 arithmetic points inside D₄.</a:t>
            </a:r>
            <a:endParaRPr/>
          </a:p>
        </p:txBody>
      </p:sp>
      <p:sp>
        <p:nvSpPr>
          <p:cNvPr id="639" name="Google Shape;639;p35"/>
          <p:cNvSpPr txBox="1"/>
          <p:nvPr/>
        </p:nvSpPr>
        <p:spPr>
          <a:xfrm>
            <a:off x="457200" y="39684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27 of the 71 features contribute less than 0.01%.</a:t>
            </a:r>
            <a:endParaRPr/>
          </a:p>
        </p:txBody>
      </p:sp>
      <p:sp>
        <p:nvSpPr>
          <p:cNvPr id="640" name="Google Shape;64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1" name="Picture 640" descr="fig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160" y="1024125"/>
            <a:ext cx="4600805" cy="23310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 Declared Weight Is Not a Realised Influence</a:t>
            </a:r>
            <a:endParaRPr/>
          </a:p>
        </p:txBody>
      </p:sp>
      <p:sp>
        <p:nvSpPr>
          <p:cNvPr id="646" name="Google Shape;646;p36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6"/>
          <p:cNvSpPr txBox="1"/>
          <p:nvPr/>
        </p:nvSpPr>
        <p:spPr>
          <a:xfrm>
            <a:off x="6355080" y="107899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Why the gap?</a:t>
            </a:r>
            <a:endParaRPr/>
          </a:p>
        </p:txBody>
      </p:sp>
      <p:sp>
        <p:nvSpPr>
          <p:cNvPr id="649" name="Google Shape;649;p36"/>
          <p:cNvSpPr txBox="1"/>
          <p:nvPr/>
        </p:nvSpPr>
        <p:spPr>
          <a:xfrm>
            <a:off x="6355080" y="1353312"/>
            <a:ext cx="2331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 dimension can only separate universities to the extent that they actually differ on it.</a:t>
            </a:r>
            <a:endParaRPr/>
          </a:p>
          <a:p>
            <a:pPr algn="l"/>
            <a:r>
              <a:rPr sz="1050" b="0">
                <a:solidFill>
                  <a:srgbClr val="434343"/>
                </a:solidFill>
                <a:latin typeface="Roboto"/>
              </a:rPr>
              <a:t/>
            </a:r>
          </a:p>
          <a:p>
            <a:pPr algn="l"/>
            <a:r>
              <a:rPr sz="1050" b="0">
                <a:solidFill>
                  <a:srgbClr val="434343"/>
                </a:solidFill>
                <a:latin typeface="Roboto"/>
              </a:rPr>
              <a:t>98.9% of sites have HTTPS.</a:t>
            </a:r>
          </a:p>
          <a:p>
            <a:pPr algn="l"/>
            <a:r>
              <a:rPr sz="1050" b="0">
                <a:solidFill>
                  <a:srgbClr val="434343"/>
                </a:solidFill>
                <a:latin typeface="Roboto"/>
              </a:rPr>
              <a:t>93.2% have accessible design.</a:t>
            </a:r>
          </a:p>
          <a:p>
            <a:pPr algn="l"/>
            <a:r>
              <a:rPr sz="1050" b="0">
                <a:solidFill>
                  <a:srgbClr val="434343"/>
                </a:solidFill>
                <a:latin typeface="Roboto"/>
              </a:rPr>
              <a:t>88.2% have a research page.</a:t>
            </a:r>
          </a:p>
        </p:txBody>
      </p:sp>
      <p:sp>
        <p:nvSpPr>
          <p:cNvPr id="650" name="Google Shape;650;p36"/>
          <p:cNvSpPr/>
          <p:nvPr/>
        </p:nvSpPr>
        <p:spPr>
          <a:xfrm>
            <a:off x="457200" y="3364992"/>
            <a:ext cx="8229600" cy="969264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6"/>
          <p:cNvSpPr txBox="1"/>
          <p:nvPr/>
        </p:nvSpPr>
        <p:spPr>
          <a:xfrm>
            <a:off x="621792" y="3474720"/>
            <a:ext cx="7900416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D₅ + D₆ + D₇ carry 20 points of the scoring model but drive only 1.4% of what the model uses — almost every university scores alike on them. They still belong in the score: a site that failed them should be penalised. D₄ is inflated because the gate lives there.</a:t>
            </a:r>
            <a:endParaRPr/>
          </a:p>
        </p:txBody>
      </p:sp>
      <p:sp>
        <p:nvSpPr>
          <p:cNvPr id="652" name="Google Shape;65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3" name="Picture 652" descr="fig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583" y="1024125"/>
            <a:ext cx="4158232" cy="210683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8" name="Google Shape;588;p3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How Much of the Ranking Is Our Weights?</a:t>
            </a:r>
            <a:endParaRPr/>
          </a:p>
        </p:txBody>
      </p:sp>
      <p:sp>
        <p:nvSpPr>
          <p:cNvPr id="589" name="Google Shape;589;p33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3"/>
          <p:cNvSpPr txBox="1"/>
          <p:nvPr/>
        </p:nvSpPr>
        <p:spPr>
          <a:xfrm>
            <a:off x="457200" y="102412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Perturb all seven weights at random — 300 draws per level</a:t>
            </a:r>
            <a:endParaRPr/>
          </a:p>
        </p:txBody>
      </p:sp>
      <p:graphicFrame>
        <p:nvGraphicFramePr>
          <p:cNvPr id="591" name="Google Shape;591;p33"/>
          <p:cNvGraphicFramePr/>
          <p:nvPr/>
        </p:nvGraphicFramePr>
        <p:xfrm>
          <a:off x="457200" y="1335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1600200"/>
                <a:gridCol w="1508750"/>
                <a:gridCol w="8229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Perturbation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Spearman ρ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Top 10 kept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±10%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0.9995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95 %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±20%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0.9986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92 %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±30%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0.9969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±50%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0.9924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86 %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92" name="Google Shape;592;p33"/>
          <p:cNvSpPr txBox="1"/>
          <p:nvPr/>
        </p:nvSpPr>
        <p:spPr>
          <a:xfrm>
            <a:off x="457200" y="2615184"/>
            <a:ext cx="3931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Even at ±30%, far more disagreement than a second analyst would introduce, the league table barely moves.</a:t>
            </a:r>
            <a:endParaRPr/>
          </a:p>
        </p:txBody>
      </p:sp>
      <p:sp>
        <p:nvSpPr>
          <p:cNvPr id="593" name="Google Shape;593;p33"/>
          <p:cNvSpPr txBox="1"/>
          <p:nvPr/>
        </p:nvSpPr>
        <p:spPr>
          <a:xfrm>
            <a:off x="470916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Ablation — which blocks does the model need?</a:t>
            </a: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4709160" y="1335024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3"/>
          <p:cNvSpPr/>
          <p:nvPr/>
        </p:nvSpPr>
        <p:spPr>
          <a:xfrm>
            <a:off x="4709160" y="1335024"/>
            <a:ext cx="1920240" cy="50292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3"/>
          <p:cNvSpPr txBox="1"/>
          <p:nvPr/>
        </p:nvSpPr>
        <p:spPr>
          <a:xfrm>
            <a:off x="4800600" y="1453896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0.997</a:t>
            </a:r>
            <a:endParaRPr/>
          </a:p>
        </p:txBody>
      </p:sp>
      <p:sp>
        <p:nvSpPr>
          <p:cNvPr id="597" name="Google Shape;597;p33"/>
          <p:cNvSpPr txBox="1"/>
          <p:nvPr/>
        </p:nvSpPr>
        <p:spPr>
          <a:xfrm>
            <a:off x="4782312" y="1913128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ρ at ±30%</a:t>
            </a:r>
            <a:endParaRPr/>
          </a:p>
        </p:txBody>
      </p:sp>
      <p:sp>
        <p:nvSpPr>
          <p:cNvPr id="598" name="Google Shape;598;p33"/>
          <p:cNvSpPr/>
          <p:nvPr/>
        </p:nvSpPr>
        <p:spPr>
          <a:xfrm>
            <a:off x="6766560" y="1335024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FB9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/>
          <p:nvPr/>
        </p:nvSpPr>
        <p:spPr>
          <a:xfrm>
            <a:off x="6766560" y="1335024"/>
            <a:ext cx="1920240" cy="50292"/>
          </a:xfrm>
          <a:prstGeom prst="rect">
            <a:avLst/>
          </a:prstGeom>
          <a:solidFill>
            <a:srgbClr val="FB9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3"/>
          <p:cNvSpPr txBox="1"/>
          <p:nvPr/>
        </p:nvSpPr>
        <p:spPr>
          <a:xfrm>
            <a:off x="6858000" y="1453896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90 %</a:t>
            </a:r>
            <a:endParaRPr/>
          </a:p>
        </p:txBody>
      </p:sp>
      <p:sp>
        <p:nvSpPr>
          <p:cNvPr id="601" name="Google Shape;601;p33"/>
          <p:cNvSpPr txBox="1"/>
          <p:nvPr/>
        </p:nvSpPr>
        <p:spPr>
          <a:xfrm>
            <a:off x="6839712" y="1913128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top ten retained</a:t>
            </a:r>
            <a:endParaRPr/>
          </a:p>
        </p:txBody>
      </p:sp>
      <p:sp>
        <p:nvSpPr>
          <p:cNvPr id="602" name="Google Shape;602;p33"/>
          <p:cNvSpPr/>
          <p:nvPr/>
        </p:nvSpPr>
        <p:spPr>
          <a:xfrm>
            <a:off x="4709160" y="2359152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3"/>
          <p:cNvSpPr/>
          <p:nvPr/>
        </p:nvSpPr>
        <p:spPr>
          <a:xfrm>
            <a:off x="4709160" y="2359152"/>
            <a:ext cx="1920240" cy="5029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3"/>
          <p:cNvSpPr txBox="1"/>
          <p:nvPr/>
        </p:nvSpPr>
        <p:spPr>
          <a:xfrm>
            <a:off x="4800600" y="2478024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+4.89</a:t>
            </a:r>
            <a:endParaRPr/>
          </a:p>
        </p:txBody>
      </p:sp>
      <p:sp>
        <p:nvSpPr>
          <p:cNvPr id="605" name="Google Shape;605;p33"/>
          <p:cNvSpPr txBox="1"/>
          <p:nvPr/>
        </p:nvSpPr>
        <p:spPr>
          <a:xfrm>
            <a:off x="4782312" y="2937256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MAE cost of</a:t>
            </a:r>
            <a:endParaRPr/>
          </a:p>
          <a:p>
            <a:pPr algn="ctr"/>
            <a:r>
              <a:rPr sz="1050" b="0">
                <a:solidFill>
                  <a:srgbClr val="434343"/>
                </a:solidFill>
                <a:latin typeface="Roboto"/>
              </a:rPr>
              <a:t>deleting D₄</a:t>
            </a:r>
          </a:p>
        </p:txBody>
      </p:sp>
      <p:sp>
        <p:nvSpPr>
          <p:cNvPr id="606" name="Google Shape;606;p33"/>
          <p:cNvSpPr/>
          <p:nvPr/>
        </p:nvSpPr>
        <p:spPr>
          <a:xfrm>
            <a:off x="6766560" y="2359152"/>
            <a:ext cx="1920240" cy="93268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3"/>
          <p:cNvSpPr/>
          <p:nvPr/>
        </p:nvSpPr>
        <p:spPr>
          <a:xfrm>
            <a:off x="6766560" y="2359152"/>
            <a:ext cx="1920240" cy="5029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6858000" y="2478024"/>
            <a:ext cx="1737360" cy="422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+1.83</a:t>
            </a:r>
            <a:endParaRPr/>
          </a:p>
        </p:txBody>
      </p:sp>
      <p:sp>
        <p:nvSpPr>
          <p:cNvPr id="609" name="Google Shape;609;p33"/>
          <p:cNvSpPr txBox="1"/>
          <p:nvPr/>
        </p:nvSpPr>
        <p:spPr>
          <a:xfrm>
            <a:off x="6839712" y="2937256"/>
            <a:ext cx="1773936" cy="31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MAE cost of</a:t>
            </a:r>
            <a:endParaRPr/>
          </a:p>
          <a:p>
            <a:pPr algn="ctr"/>
            <a:r>
              <a:rPr sz="1050" b="0">
                <a:solidFill>
                  <a:srgbClr val="434343"/>
                </a:solidFill>
                <a:latin typeface="Roboto"/>
              </a:rPr>
              <a:t>deleting D₁</a:t>
            </a:r>
          </a:p>
        </p:txBody>
      </p:sp>
      <p:sp>
        <p:nvSpPr>
          <p:cNvPr id="610" name="Google Shape;610;p33"/>
          <p:cNvSpPr/>
          <p:nvPr/>
        </p:nvSpPr>
        <p:spPr>
          <a:xfrm>
            <a:off x="457200" y="3529584"/>
            <a:ext cx="8229600" cy="658368"/>
          </a:xfrm>
          <a:prstGeom prst="roundRect">
            <a:avLst>
              <a:gd fmla="val 8000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621792" y="3639312"/>
            <a:ext cx="79004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Deleting D₄ costs more than deleting D₁ even though D₁ carries almost twice the weight — because the gate lives in D₄ and it is the sharpest boundary in the data.</a:t>
            </a:r>
            <a:endParaRPr/>
          </a:p>
        </p:txBody>
      </p:sp>
      <p:sp>
        <p:nvSpPr>
          <p:cNvPr id="612" name="Google Shape;612;p33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This is the one result that does not depend on the label being learnable: it is a property of the ranking itself.</a:t>
            </a:r>
            <a:endParaRPr/>
          </a:p>
        </p:txBody>
      </p:sp>
      <p:sp>
        <p:nvSpPr>
          <p:cNvPr id="613" name="Google Shape;61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Rankings</a:t>
            </a:r>
            <a:endParaRPr/>
          </a:p>
        </p:txBody>
      </p:sp>
      <p:sp>
        <p:nvSpPr>
          <p:cNvPr id="658" name="Google Shape;658;p37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7"/>
          <p:cNvSpPr txBox="1"/>
          <p:nvPr/>
        </p:nvSpPr>
        <p:spPr>
          <a:xfrm>
            <a:off x="45720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Global top 8</a:t>
            </a:r>
            <a:endParaRPr/>
          </a:p>
        </p:txBody>
      </p:sp>
      <p:graphicFrame>
        <p:nvGraphicFramePr>
          <p:cNvPr id="660" name="Google Shape;660;p37"/>
          <p:cNvGraphicFramePr/>
          <p:nvPr/>
        </p:nvGraphicFramePr>
        <p:xfrm>
          <a:off x="45720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411475"/>
                <a:gridCol w="2743200"/>
                <a:gridCol w="82295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#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Score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Eotvos Lorand University (HU)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94.9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New England (AU)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94.4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Strasbourg (FR)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93.7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Porto (PT)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93.4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Nanyang Technological Univ. (SG)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92.9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Gauhati University (IN)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92.7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RWTH Aachen University (DE)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92.5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Leicester (UK)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92.1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61" name="Google Shape;661;p37"/>
          <p:cNvSpPr txBox="1"/>
          <p:nvPr/>
        </p:nvSpPr>
        <p:spPr>
          <a:xfrm>
            <a:off x="4709160" y="102412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Bangladesh — 22 universities</a:t>
            </a:r>
            <a:endParaRPr/>
          </a:p>
        </p:txBody>
      </p:sp>
      <p:graphicFrame>
        <p:nvGraphicFramePr>
          <p:cNvPr id="662" name="Google Shape;662;p37"/>
          <p:cNvGraphicFramePr/>
          <p:nvPr/>
        </p:nvGraphicFramePr>
        <p:xfrm>
          <a:off x="470916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384050"/>
                <a:gridCol w="2148850"/>
                <a:gridCol w="685800"/>
                <a:gridCol w="75895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#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Global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Score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North South 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86.8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RUET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83.8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BRAC 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139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KUET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141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82.2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9F0FC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CUET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81.4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Univ. of Professionals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81.0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AIUB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80.8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Patuakhali S&amp;T University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78.6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63" name="Google Shape;663;p37"/>
          <p:cNvSpPr/>
          <p:nvPr/>
        </p:nvSpPr>
        <p:spPr>
          <a:xfrm>
            <a:off x="457200" y="3310128"/>
            <a:ext cx="8229600" cy="548640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621792" y="3410712"/>
            <a:ext cx="7900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Three ranking types — global (all 1,225), regional (six regions), country (18 countries with n ≥ 20, covering 779 universities).</a:t>
            </a:r>
            <a:endParaRPr/>
          </a:p>
        </p:txBody>
      </p:sp>
      <p:sp>
        <p:nvSpPr>
          <p:cNvPr id="665" name="Google Shape;665;p37"/>
          <p:cNvSpPr/>
          <p:nvPr/>
        </p:nvSpPr>
        <p:spPr>
          <a:xfrm>
            <a:off x="457200" y="3968496"/>
            <a:ext cx="8229600" cy="603504"/>
          </a:xfrm>
          <a:prstGeom prst="roundRect">
            <a:avLst>
              <a:gd fmla="val 8000" name="adj"/>
            </a:avLst>
          </a:prstGeom>
          <a:solidFill>
            <a:srgbClr val="FD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7"/>
          <p:cNvSpPr txBox="1"/>
          <p:nvPr/>
        </p:nvSpPr>
        <p:spPr>
          <a:xfrm>
            <a:off x="621792" y="4069080"/>
            <a:ext cx="79004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Read the bottom of the ranking with care — about 2% of universities returned almost nothing to the crawler. Those are extraction failures, not bad websites.</a:t>
            </a:r>
            <a:endParaRPr/>
          </a:p>
        </p:txBody>
      </p:sp>
      <p:sp>
        <p:nvSpPr>
          <p:cNvPr id="667" name="Google Shape;66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Work Distribution Among Teammates</a:t>
            </a:r>
            <a:endParaRPr/>
          </a:p>
        </p:txBody>
      </p:sp>
      <p:sp>
        <p:nvSpPr>
          <p:cNvPr id="673" name="Google Shape;673;p38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8"/>
          <p:cNvSpPr txBox="1"/>
          <p:nvPr/>
        </p:nvSpPr>
        <p:spPr>
          <a:xfrm>
            <a:off x="457200" y="1024128"/>
            <a:ext cx="5166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collection — one region per member</a:t>
            </a:r>
            <a:endParaRPr/>
          </a:p>
        </p:txBody>
      </p:sp>
      <p:graphicFrame>
        <p:nvGraphicFramePr>
          <p:cNvPr id="675" name="Google Shape;675;p38"/>
          <p:cNvGraphicFramePr/>
          <p:nvPr/>
        </p:nvGraphicFramePr>
        <p:xfrm>
          <a:off x="457200" y="1316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{E7EB27C0-A441-4D65-8F88-A9ED1D9A0A8B}</a:tableStyleId>
              </a:tblPr>
              <a:tblGrid>
                <a:gridCol w="1600200"/>
                <a:gridCol w="777250"/>
                <a:gridCol w="2194550"/>
                <a:gridCol w="594350"/>
              </a:tblGrid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Team member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Roll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Region collected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12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Sites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4EA2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Md. Rubayet Nabil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2107073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North America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Abhijeet Deb Nath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2107083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Western &amp; Northern Europe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Afifa Sultana Offa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2107087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Eastern &amp; Southern Europe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Faisal Ahmed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2107061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Asia (East &amp; Southeast)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 Shariar Hossain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2107066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South &amp; Central Asia + Oceania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212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Khadimul Islam Mahi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2107076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Latin America &amp; Africa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208</a:t>
                      </a:r>
                      <a:endParaRPr/>
                    </a:p>
                  </a:txBody>
                  <a:tcPr marT="0" marB="0" marR="54875" marL="5487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76" name="Google Shape;676;p38"/>
          <p:cNvSpPr txBox="1"/>
          <p:nvPr/>
        </p:nvSpPr>
        <p:spPr>
          <a:xfrm>
            <a:off x="457200" y="3017520"/>
            <a:ext cx="5166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Total 1,230 sites — balanced coverage, even workload</a:t>
            </a:r>
            <a:endParaRPr/>
          </a:p>
        </p:txBody>
      </p:sp>
      <p:sp>
        <p:nvSpPr>
          <p:cNvPr id="677" name="Google Shape;677;p38"/>
          <p:cNvSpPr txBox="1"/>
          <p:nvPr/>
        </p:nvSpPr>
        <p:spPr>
          <a:xfrm>
            <a:off x="5870448" y="1024128"/>
            <a:ext cx="28163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Analysis — carried out jointly</a:t>
            </a:r>
            <a:endParaRPr/>
          </a:p>
        </p:txBody>
      </p:sp>
      <p:sp>
        <p:nvSpPr>
          <p:cNvPr id="678" name="Google Shape;678;p38"/>
          <p:cNvSpPr txBox="1"/>
          <p:nvPr/>
        </p:nvSpPr>
        <p:spPr>
          <a:xfrm>
            <a:off x="5870448" y="1335024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</a:t>
            </a:r>
            <a:endParaRPr/>
          </a:p>
        </p:txBody>
      </p:sp>
      <p:sp>
        <p:nvSpPr>
          <p:cNvPr id="679" name="Google Shape;679;p38"/>
          <p:cNvSpPr txBox="1"/>
          <p:nvPr/>
        </p:nvSpPr>
        <p:spPr>
          <a:xfrm>
            <a:off x="6035040" y="1335024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Attribute schema</a:t>
            </a:r>
            <a:endParaRPr/>
          </a:p>
        </p:txBody>
      </p:sp>
      <p:sp>
        <p:nvSpPr>
          <p:cNvPr id="680" name="Google Shape;680;p38"/>
          <p:cNvSpPr txBox="1"/>
          <p:nvPr/>
        </p:nvSpPr>
        <p:spPr>
          <a:xfrm>
            <a:off x="6035040" y="152704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agreed as a team from the literature</a:t>
            </a:r>
            <a:endParaRPr/>
          </a:p>
        </p:txBody>
      </p:sp>
      <p:sp>
        <p:nvSpPr>
          <p:cNvPr id="681" name="Google Shape;681;p38"/>
          <p:cNvSpPr txBox="1"/>
          <p:nvPr/>
        </p:nvSpPr>
        <p:spPr>
          <a:xfrm>
            <a:off x="5870448" y="1755648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</a:t>
            </a:r>
            <a:endParaRPr/>
          </a:p>
        </p:txBody>
      </p:sp>
      <p:sp>
        <p:nvSpPr>
          <p:cNvPr id="682" name="Google Shape;682;p38"/>
          <p:cNvSpPr txBox="1"/>
          <p:nvPr/>
        </p:nvSpPr>
        <p:spPr>
          <a:xfrm>
            <a:off x="6035040" y="175564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Cleaning &amp; preprocessing</a:t>
            </a:r>
            <a:endParaRPr/>
          </a:p>
        </p:txBody>
      </p:sp>
      <p:sp>
        <p:nvSpPr>
          <p:cNvPr id="683" name="Google Shape;683;p38"/>
          <p:cNvSpPr txBox="1"/>
          <p:nvPr/>
        </p:nvSpPr>
        <p:spPr>
          <a:xfrm>
            <a:off x="6035040" y="194767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reviewed together, one script</a:t>
            </a:r>
            <a:endParaRPr/>
          </a:p>
        </p:txBody>
      </p:sp>
      <p:sp>
        <p:nvSpPr>
          <p:cNvPr id="684" name="Google Shape;684;p38"/>
          <p:cNvSpPr txBox="1"/>
          <p:nvPr/>
        </p:nvSpPr>
        <p:spPr>
          <a:xfrm>
            <a:off x="5870448" y="2176272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</a:t>
            </a:r>
            <a:endParaRPr/>
          </a:p>
        </p:txBody>
      </p:sp>
      <p:sp>
        <p:nvSpPr>
          <p:cNvPr id="685" name="Google Shape;685;p38"/>
          <p:cNvSpPr txBox="1"/>
          <p:nvPr/>
        </p:nvSpPr>
        <p:spPr>
          <a:xfrm>
            <a:off x="6035040" y="217627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Scoring model</a:t>
            </a:r>
            <a:endParaRPr/>
          </a:p>
        </p:txBody>
      </p:sp>
      <p:sp>
        <p:nvSpPr>
          <p:cNvPr id="686" name="Google Shape;686;p38"/>
          <p:cNvSpPr txBox="1"/>
          <p:nvPr/>
        </p:nvSpPr>
        <p:spPr>
          <a:xfrm>
            <a:off x="6035040" y="23682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weights and gates agreed jointly</a:t>
            </a:r>
            <a:endParaRPr/>
          </a:p>
        </p:txBody>
      </p:sp>
      <p:sp>
        <p:nvSpPr>
          <p:cNvPr id="687" name="Google Shape;687;p38"/>
          <p:cNvSpPr txBox="1"/>
          <p:nvPr/>
        </p:nvSpPr>
        <p:spPr>
          <a:xfrm>
            <a:off x="5870448" y="2596896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</a:t>
            </a:r>
            <a:endParaRPr/>
          </a:p>
        </p:txBody>
      </p:sp>
      <p:sp>
        <p:nvSpPr>
          <p:cNvPr id="688" name="Google Shape;688;p38"/>
          <p:cNvSpPr txBox="1"/>
          <p:nvPr/>
        </p:nvSpPr>
        <p:spPr>
          <a:xfrm>
            <a:off x="6035040" y="2596896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Modelling &amp; evaluation</a:t>
            </a:r>
            <a:endParaRPr/>
          </a:p>
        </p:txBody>
      </p:sp>
      <p:sp>
        <p:nvSpPr>
          <p:cNvPr id="689" name="Google Shape;689;p38"/>
          <p:cNvSpPr txBox="1"/>
          <p:nvPr/>
        </p:nvSpPr>
        <p:spPr>
          <a:xfrm>
            <a:off x="6035040" y="278892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shared, single reproducible pipeline</a:t>
            </a:r>
            <a:endParaRPr/>
          </a:p>
        </p:txBody>
      </p:sp>
      <p:sp>
        <p:nvSpPr>
          <p:cNvPr id="690" name="Google Shape;690;p38"/>
          <p:cNvSpPr txBox="1"/>
          <p:nvPr/>
        </p:nvSpPr>
        <p:spPr>
          <a:xfrm>
            <a:off x="5870448" y="301752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</a:t>
            </a:r>
            <a:endParaRPr/>
          </a:p>
        </p:txBody>
      </p:sp>
      <p:sp>
        <p:nvSpPr>
          <p:cNvPr id="691" name="Google Shape;691;p38"/>
          <p:cNvSpPr txBox="1"/>
          <p:nvPr/>
        </p:nvSpPr>
        <p:spPr>
          <a:xfrm>
            <a:off x="6035040" y="301752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Report &amp; presentation</a:t>
            </a:r>
            <a:endParaRPr/>
          </a:p>
        </p:txBody>
      </p:sp>
      <p:sp>
        <p:nvSpPr>
          <p:cNvPr id="692" name="Google Shape;692;p38"/>
          <p:cNvSpPr txBox="1"/>
          <p:nvPr/>
        </p:nvSpPr>
        <p:spPr>
          <a:xfrm>
            <a:off x="6035040" y="320954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written and reviewed together</a:t>
            </a:r>
            <a:endParaRPr/>
          </a:p>
        </p:txBody>
      </p:sp>
      <p:sp>
        <p:nvSpPr>
          <p:cNvPr id="693" name="Google Shape;693;p38"/>
          <p:cNvSpPr/>
          <p:nvPr/>
        </p:nvSpPr>
        <p:spPr>
          <a:xfrm>
            <a:off x="457200" y="3584448"/>
            <a:ext cx="8229600" cy="658368"/>
          </a:xfrm>
          <a:prstGeom prst="roundRect">
            <a:avLst>
              <a:gd fmla="val 8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8"/>
          <p:cNvSpPr txBox="1"/>
          <p:nvPr/>
        </p:nvSpPr>
        <p:spPr>
          <a:xfrm>
            <a:off x="621792" y="3694176"/>
            <a:ext cx="79004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Because each member covered exactly one region, coverage is balanced and the workload even — but collector and region become perfectly confounded, which is why load time is standardised within region.</a:t>
            </a:r>
            <a:endParaRPr/>
          </a:p>
        </p:txBody>
      </p:sp>
      <p:sp>
        <p:nvSpPr>
          <p:cNvPr id="695" name="Google Shape;695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Limitations</a:t>
            </a:r>
            <a:endParaRPr/>
          </a:p>
        </p:txBody>
      </p:sp>
      <p:sp>
        <p:nvSpPr>
          <p:cNvPr id="701" name="Google Shape;701;p39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9"/>
          <p:cNvSpPr/>
          <p:nvPr/>
        </p:nvSpPr>
        <p:spPr>
          <a:xfrm>
            <a:off x="457200" y="1060704"/>
            <a:ext cx="274320" cy="237744"/>
          </a:xfrm>
          <a:prstGeom prst="roundRect">
            <a:avLst>
              <a:gd fmla="val 8000" name="adj"/>
            </a:avLst>
          </a:prstGeom>
          <a:solidFill>
            <a:srgbClr val="C530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9"/>
          <p:cNvSpPr txBox="1"/>
          <p:nvPr/>
        </p:nvSpPr>
        <p:spPr>
          <a:xfrm>
            <a:off x="512064" y="1110996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/>
          </a:p>
        </p:txBody>
      </p:sp>
      <p:sp>
        <p:nvSpPr>
          <p:cNvPr id="704" name="Google Shape;704;p39"/>
          <p:cNvSpPr txBox="1"/>
          <p:nvPr/>
        </p:nvSpPr>
        <p:spPr>
          <a:xfrm>
            <a:off x="841247" y="1042416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label is an arithmetic function of the features.</a:t>
            </a:r>
            <a:endParaRPr/>
          </a:p>
        </p:txBody>
      </p:sp>
      <p:sp>
        <p:nvSpPr>
          <p:cNvPr id="705" name="Google Shape;705;p39"/>
          <p:cNvSpPr txBox="1"/>
          <p:nvPr/>
        </p:nvSpPr>
        <p:spPr>
          <a:xfrm>
            <a:off x="841247" y="12664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 the accuracy figures measure how recoverable that function is, not how predictable website quality is in general.</a:t>
            </a:r>
            <a:endParaRPr/>
          </a:p>
        </p:txBody>
      </p:sp>
      <p:sp>
        <p:nvSpPr>
          <p:cNvPr id="706" name="Google Shape;706;p39"/>
          <p:cNvSpPr/>
          <p:nvPr/>
        </p:nvSpPr>
        <p:spPr>
          <a:xfrm>
            <a:off x="457200" y="1650492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512064" y="1700784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/>
          </a:p>
        </p:txBody>
      </p:sp>
      <p:sp>
        <p:nvSpPr>
          <p:cNvPr id="708" name="Google Shape;708;p39"/>
          <p:cNvSpPr txBox="1"/>
          <p:nvPr/>
        </p:nvSpPr>
        <p:spPr>
          <a:xfrm>
            <a:off x="841247" y="1632204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dataset cannot see visual design.</a:t>
            </a:r>
            <a:endParaRPr/>
          </a:p>
        </p:txBody>
      </p:sp>
      <p:sp>
        <p:nvSpPr>
          <p:cNvPr id="709" name="Google Shape;709;p39"/>
          <p:cNvSpPr txBox="1"/>
          <p:nvPr/>
        </p:nvSpPr>
        <p:spPr>
          <a:xfrm>
            <a:off x="841247" y="185623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Every attribute is a flag, a count or a measurement. Clutter and layout are not in the 71 columns — which is also why seven media and visual attributes are excluded from the label.</a:t>
            </a:r>
            <a:endParaRPr/>
          </a:p>
        </p:txBody>
      </p:sp>
      <p:sp>
        <p:nvSpPr>
          <p:cNvPr id="710" name="Google Shape;710;p39"/>
          <p:cNvSpPr/>
          <p:nvPr/>
        </p:nvSpPr>
        <p:spPr>
          <a:xfrm>
            <a:off x="457200" y="2240280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9"/>
          <p:cNvSpPr txBox="1"/>
          <p:nvPr/>
        </p:nvSpPr>
        <p:spPr>
          <a:xfrm>
            <a:off x="512064" y="2290572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/>
          </a:p>
        </p:txBody>
      </p:sp>
      <p:sp>
        <p:nvSpPr>
          <p:cNvPr id="712" name="Google Shape;712;p39"/>
          <p:cNvSpPr txBox="1"/>
          <p:nvPr/>
        </p:nvSpPr>
        <p:spPr>
          <a:xfrm>
            <a:off x="841247" y="222199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About 2% of rows are extraction failures.</a:t>
            </a:r>
            <a:endParaRPr/>
          </a:p>
        </p:txBody>
      </p:sp>
      <p:sp>
        <p:nvSpPr>
          <p:cNvPr id="713" name="Google Shape;713;p39"/>
          <p:cNvSpPr txBox="1"/>
          <p:nvPr/>
        </p:nvSpPr>
        <p:spPr>
          <a:xfrm>
            <a:off x="841247" y="24460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JavaScript-rendered pages the crawler could not read. Because the navigation gate fires on exactly that failure, they are indistinguishable from genuinely unnavigable sites.</a:t>
            </a:r>
            <a:endParaRPr/>
          </a:p>
        </p:txBody>
      </p:sp>
      <p:sp>
        <p:nvSpPr>
          <p:cNvPr id="714" name="Google Shape;714;p39"/>
          <p:cNvSpPr/>
          <p:nvPr/>
        </p:nvSpPr>
        <p:spPr>
          <a:xfrm>
            <a:off x="457200" y="2830068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9"/>
          <p:cNvSpPr txBox="1"/>
          <p:nvPr/>
        </p:nvSpPr>
        <p:spPr>
          <a:xfrm>
            <a:off x="512064" y="2880360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/>
          </a:p>
        </p:txBody>
      </p:sp>
      <p:sp>
        <p:nvSpPr>
          <p:cNvPr id="716" name="Google Shape;716;p39"/>
          <p:cNvSpPr txBox="1"/>
          <p:nvPr/>
        </p:nvSpPr>
        <p:spPr>
          <a:xfrm>
            <a:off x="841247" y="281178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weights are a judgement — but a bounded one.</a:t>
            </a:r>
            <a:endParaRPr/>
          </a:p>
        </p:txBody>
      </p:sp>
      <p:sp>
        <p:nvSpPr>
          <p:cNvPr id="717" name="Google Shape;717;p39"/>
          <p:cNvSpPr txBox="1"/>
          <p:nvPr/>
        </p:nvSpPr>
        <p:spPr>
          <a:xfrm>
            <a:off x="841247" y="30358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At ±30% on every weight the ranking still holds at ρ = 0.997. Excluding 20 attributes is also a judgement; a28_contests is the most arguable.</a:t>
            </a:r>
            <a:endParaRPr/>
          </a:p>
        </p:txBody>
      </p:sp>
      <p:sp>
        <p:nvSpPr>
          <p:cNvPr id="718" name="Google Shape;718;p39"/>
          <p:cNvSpPr/>
          <p:nvPr/>
        </p:nvSpPr>
        <p:spPr>
          <a:xfrm>
            <a:off x="457200" y="3419856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9"/>
          <p:cNvSpPr txBox="1"/>
          <p:nvPr/>
        </p:nvSpPr>
        <p:spPr>
          <a:xfrm>
            <a:off x="512064" y="3470148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/>
          </a:p>
        </p:txBody>
      </p:sp>
      <p:sp>
        <p:nvSpPr>
          <p:cNvPr id="720" name="Google Shape;720;p39"/>
          <p:cNvSpPr txBox="1"/>
          <p:nvPr/>
        </p:nvSpPr>
        <p:spPr>
          <a:xfrm>
            <a:off x="841247" y="3401568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Region and collector are perfectly confounded.</a:t>
            </a:r>
            <a:endParaRPr/>
          </a:p>
        </p:txBody>
      </p:sp>
      <p:sp>
        <p:nvSpPr>
          <p:cNvPr id="721" name="Google Shape;721;p39"/>
          <p:cNvSpPr txBox="1"/>
          <p:nvPr/>
        </p:nvSpPr>
        <p:spPr>
          <a:xfrm>
            <a:off x="841247" y="36255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Each of six collectors covered one region, so load time is region-standardised. The Bangladesh result is also one country, not a general claim about transfer.</a:t>
            </a:r>
            <a:endParaRPr/>
          </a:p>
        </p:txBody>
      </p:sp>
      <p:sp>
        <p:nvSpPr>
          <p:cNvPr id="722" name="Google Shape;722;p39"/>
          <p:cNvSpPr/>
          <p:nvPr/>
        </p:nvSpPr>
        <p:spPr>
          <a:xfrm>
            <a:off x="457200" y="4009644"/>
            <a:ext cx="27432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9"/>
          <p:cNvSpPr txBox="1"/>
          <p:nvPr/>
        </p:nvSpPr>
        <p:spPr>
          <a:xfrm>
            <a:off x="512064" y="4059935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/>
          </a:p>
        </p:txBody>
      </p:sp>
      <p:sp>
        <p:nvSpPr>
          <p:cNvPr id="724" name="Google Shape;724;p39"/>
          <p:cNvSpPr txBox="1"/>
          <p:nvPr/>
        </p:nvSpPr>
        <p:spPr>
          <a:xfrm>
            <a:off x="841247" y="3991356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crawl is a single snapshot.</a:t>
            </a:r>
            <a:endParaRPr/>
          </a:p>
        </p:txBody>
      </p:sp>
      <p:sp>
        <p:nvSpPr>
          <p:cNvPr id="725" name="Google Shape;725;p39"/>
          <p:cNvSpPr txBox="1"/>
          <p:nvPr/>
        </p:nvSpPr>
        <p:spPr>
          <a:xfrm>
            <a:off x="841247" y="42153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Freshness attributes would differ on another day.</a:t>
            </a:r>
            <a:endParaRPr/>
          </a:p>
        </p:txBody>
      </p:sp>
      <p:sp>
        <p:nvSpPr>
          <p:cNvPr id="726" name="Google Shape;72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0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Conclusion</a:t>
            </a:r>
            <a:endParaRPr/>
          </a:p>
        </p:txBody>
      </p:sp>
      <p:sp>
        <p:nvSpPr>
          <p:cNvPr id="732" name="Google Shape;732;p40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457200" y="1024128"/>
            <a:ext cx="1920240" cy="10607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0"/>
          <p:cNvSpPr/>
          <p:nvPr/>
        </p:nvSpPr>
        <p:spPr>
          <a:xfrm>
            <a:off x="457200" y="1024128"/>
            <a:ext cx="1920240" cy="50292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0"/>
          <p:cNvSpPr txBox="1"/>
          <p:nvPr/>
        </p:nvSpPr>
        <p:spPr>
          <a:xfrm>
            <a:off x="548640" y="114300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1,225</a:t>
            </a:r>
            <a:endParaRPr/>
          </a:p>
        </p:txBody>
      </p:sp>
      <p:sp>
        <p:nvSpPr>
          <p:cNvPr id="736" name="Google Shape;736;p40"/>
          <p:cNvSpPr txBox="1"/>
          <p:nvPr/>
        </p:nvSpPr>
        <p:spPr>
          <a:xfrm>
            <a:off x="530352" y="1618488"/>
            <a:ext cx="1773936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universities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scored</a:t>
            </a:r>
            <a:endParaRPr/>
          </a:p>
        </p:txBody>
      </p:sp>
      <p:sp>
        <p:nvSpPr>
          <p:cNvPr id="737" name="Google Shape;737;p40"/>
          <p:cNvSpPr/>
          <p:nvPr/>
        </p:nvSpPr>
        <p:spPr>
          <a:xfrm>
            <a:off x="2542032" y="1024128"/>
            <a:ext cx="1920240" cy="10607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DD6B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2542032" y="1024128"/>
            <a:ext cx="1920240" cy="5029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0"/>
          <p:cNvSpPr txBox="1"/>
          <p:nvPr/>
        </p:nvSpPr>
        <p:spPr>
          <a:xfrm>
            <a:off x="2633472" y="114300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12</a:t>
            </a:r>
            <a:endParaRPr/>
          </a:p>
        </p:txBody>
      </p:sp>
      <p:sp>
        <p:nvSpPr>
          <p:cNvPr id="740" name="Google Shape;740;p40"/>
          <p:cNvSpPr txBox="1"/>
          <p:nvPr/>
        </p:nvSpPr>
        <p:spPr>
          <a:xfrm>
            <a:off x="2615184" y="1618488"/>
            <a:ext cx="1773936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algorithms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compared</a:t>
            </a:r>
            <a:endParaRPr/>
          </a:p>
        </p:txBody>
      </p:sp>
      <p:sp>
        <p:nvSpPr>
          <p:cNvPr id="741" name="Google Shape;741;p40"/>
          <p:cNvSpPr/>
          <p:nvPr/>
        </p:nvSpPr>
        <p:spPr>
          <a:xfrm>
            <a:off x="4626864" y="1024128"/>
            <a:ext cx="1920240" cy="10607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77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0"/>
          <p:cNvSpPr/>
          <p:nvPr/>
        </p:nvSpPr>
        <p:spPr>
          <a:xfrm>
            <a:off x="4626864" y="1024128"/>
            <a:ext cx="1920240" cy="50292"/>
          </a:xfrm>
          <a:prstGeom prst="rect">
            <a:avLst/>
          </a:prstGeom>
          <a:solidFill>
            <a:srgbClr val="277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0"/>
          <p:cNvSpPr txBox="1"/>
          <p:nvPr/>
        </p:nvSpPr>
        <p:spPr>
          <a:xfrm>
            <a:off x="4718303" y="114300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0.9925</a:t>
            </a:r>
            <a:endParaRPr/>
          </a:p>
        </p:txBody>
      </p:sp>
      <p:sp>
        <p:nvSpPr>
          <p:cNvPr id="744" name="Google Shape;744;p40"/>
          <p:cNvSpPr txBox="1"/>
          <p:nvPr/>
        </p:nvSpPr>
        <p:spPr>
          <a:xfrm>
            <a:off x="4700016" y="1618488"/>
            <a:ext cx="1773936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R² on held-out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/>
          </a:p>
        </p:txBody>
      </p:sp>
      <p:sp>
        <p:nvSpPr>
          <p:cNvPr id="745" name="Google Shape;745;p40"/>
          <p:cNvSpPr/>
          <p:nvPr/>
        </p:nvSpPr>
        <p:spPr>
          <a:xfrm>
            <a:off x="6711696" y="1024128"/>
            <a:ext cx="1920240" cy="10607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0"/>
          <p:cNvSpPr/>
          <p:nvPr/>
        </p:nvSpPr>
        <p:spPr>
          <a:xfrm>
            <a:off x="6711696" y="1024128"/>
            <a:ext cx="1920240" cy="5029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0"/>
          <p:cNvSpPr txBox="1"/>
          <p:nvPr/>
        </p:nvSpPr>
        <p:spPr>
          <a:xfrm>
            <a:off x="6803136" y="114300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1.15</a:t>
            </a:r>
            <a:endParaRPr/>
          </a:p>
        </p:txBody>
      </p:sp>
      <p:sp>
        <p:nvSpPr>
          <p:cNvPr id="748" name="Google Shape;748;p40"/>
          <p:cNvSpPr txBox="1"/>
          <p:nvPr/>
        </p:nvSpPr>
        <p:spPr>
          <a:xfrm>
            <a:off x="6784848" y="1618488"/>
            <a:ext cx="1773936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MAE in score</a:t>
            </a:r>
            <a:endParaRPr/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points</a:t>
            </a:r>
            <a:endParaRPr/>
          </a:p>
        </p:txBody>
      </p:sp>
      <p:sp>
        <p:nvSpPr>
          <p:cNvPr id="749" name="Google Shape;749;p40"/>
          <p:cNvSpPr txBox="1"/>
          <p:nvPr/>
        </p:nvSpPr>
        <p:spPr>
          <a:xfrm>
            <a:off x="457200" y="2304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we found</a:t>
            </a:r>
            <a:endParaRPr/>
          </a:p>
        </p:txBody>
      </p:sp>
      <p:sp>
        <p:nvSpPr>
          <p:cNvPr id="750" name="Google Shape;750;p40"/>
          <p:cNvSpPr txBox="1"/>
          <p:nvPr/>
        </p:nvSpPr>
        <p:spPr>
          <a:xfrm>
            <a:off x="457200" y="2615184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751" name="Google Shape;751;p40"/>
          <p:cNvSpPr txBox="1"/>
          <p:nvPr/>
        </p:nvSpPr>
        <p:spPr>
          <a:xfrm>
            <a:off x="694944" y="2615184"/>
            <a:ext cx="79004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 seven-dimension scoring model grounded in what a prospective student needs turns 71 measurable attributes into a 0–100 score; 51 of them enter the label, and the other 20 are excluded for stated reasons.</a:t>
            </a:r>
            <a:endParaRPr/>
          </a:p>
        </p:txBody>
      </p:sp>
      <p:sp>
        <p:nvSpPr>
          <p:cNvPr id="752" name="Google Shape;752;p40"/>
          <p:cNvSpPr txBox="1"/>
          <p:nvPr/>
        </p:nvSpPr>
        <p:spPr>
          <a:xfrm>
            <a:off x="457200" y="2980944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753" name="Google Shape;753;p40"/>
          <p:cNvSpPr txBox="1"/>
          <p:nvPr/>
        </p:nvSpPr>
        <p:spPr>
          <a:xfrm>
            <a:off x="694944" y="2980944"/>
            <a:ext cx="79004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Tuned LightGBM recovers that score from raw attributes with an average error of 1.15 points and orders the universities at ρ = 0.992.</a:t>
            </a:r>
            <a:endParaRPr/>
          </a:p>
        </p:txBody>
      </p:sp>
      <p:sp>
        <p:nvSpPr>
          <p:cNvPr id="754" name="Google Shape;754;p40"/>
          <p:cNvSpPr txBox="1"/>
          <p:nvPr/>
        </p:nvSpPr>
        <p:spPr>
          <a:xfrm>
            <a:off x="457200" y="3549904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776E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</a:t>
            </a:r>
            <a:endParaRPr/>
          </a:p>
        </p:txBody>
      </p:sp>
      <p:sp>
        <p:nvSpPr>
          <p:cNvPr id="755" name="Google Shape;755;p40"/>
          <p:cNvSpPr txBox="1"/>
          <p:nvPr/>
        </p:nvSpPr>
        <p:spPr>
          <a:xfrm>
            <a:off x="694944" y="3549904"/>
            <a:ext cx="79004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The comparison is the interesting half — the spread across algorithm families is the concrete inability of an additive model to represent a threshold.</a:t>
            </a:r>
            <a:endParaRPr/>
          </a:p>
        </p:txBody>
      </p:sp>
      <p:sp>
        <p:nvSpPr>
          <p:cNvPr id="756" name="Google Shape;756;p40"/>
          <p:cNvSpPr/>
          <p:nvPr/>
        </p:nvSpPr>
        <p:spPr>
          <a:xfrm>
            <a:off x="457200" y="4370832"/>
            <a:ext cx="8229600" cy="475488"/>
          </a:xfrm>
          <a:prstGeom prst="roundRect">
            <a:avLst>
              <a:gd fmla="val 8000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0"/>
          <p:cNvSpPr txBox="1"/>
          <p:nvPr/>
        </p:nvSpPr>
        <p:spPr>
          <a:xfrm>
            <a:off x="621792" y="4462272"/>
            <a:ext cx="7900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Future work — an independent label (human ratings or pairwise judgements) · screenshot features · a rendering crawler</a:t>
            </a:r>
            <a:endParaRPr/>
          </a:p>
        </p:txBody>
      </p:sp>
      <p:sp>
        <p:nvSpPr>
          <p:cNvPr id="758" name="Google Shape;75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References</a:t>
            </a:r>
            <a:endParaRPr/>
          </a:p>
        </p:txBody>
      </p:sp>
      <p:sp>
        <p:nvSpPr>
          <p:cNvPr id="764" name="Google Shape;764;p41"/>
          <p:cNvSpPr/>
          <p:nvPr/>
        </p:nvSpPr>
        <p:spPr>
          <a:xfrm>
            <a:off x="457200" y="850392"/>
            <a:ext cx="960120" cy="50292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1"/>
          <p:cNvSpPr/>
          <p:nvPr/>
        </p:nvSpPr>
        <p:spPr>
          <a:xfrm>
            <a:off x="457200" y="10515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1"/>
          <p:cNvSpPr txBox="1"/>
          <p:nvPr/>
        </p:nvSpPr>
        <p:spPr>
          <a:xfrm>
            <a:off x="512064" y="11018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P1</a:t>
            </a:r>
            <a:endParaRPr/>
          </a:p>
        </p:txBody>
      </p:sp>
      <p:sp>
        <p:nvSpPr>
          <p:cNvPr id="767" name="Google Shape;767;p41"/>
          <p:cNvSpPr txBox="1"/>
          <p:nvPr/>
        </p:nvSpPr>
        <p:spPr>
          <a:xfrm>
            <a:off x="932688" y="10424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Mukanda, F., Mbuguah, S. &amp; Wabwoba, F. (2022). Usability evaluation of university websites. International Journal of Computer Trends and Technology, 70(2), 1–9.</a:t>
            </a:r>
            <a:endParaRPr/>
          </a:p>
        </p:txBody>
      </p:sp>
      <p:sp>
        <p:nvSpPr>
          <p:cNvPr id="768" name="Google Shape;768;p41"/>
          <p:cNvSpPr/>
          <p:nvPr/>
        </p:nvSpPr>
        <p:spPr>
          <a:xfrm>
            <a:off x="457200" y="15087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1"/>
          <p:cNvSpPr txBox="1"/>
          <p:nvPr/>
        </p:nvSpPr>
        <p:spPr>
          <a:xfrm>
            <a:off x="512064" y="15590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P2</a:t>
            </a:r>
            <a:endParaRPr/>
          </a:p>
        </p:txBody>
      </p:sp>
      <p:sp>
        <p:nvSpPr>
          <p:cNvPr id="770" name="Google Shape;770;p41"/>
          <p:cNvSpPr txBox="1"/>
          <p:nvPr/>
        </p:nvSpPr>
        <p:spPr>
          <a:xfrm>
            <a:off x="932688" y="14996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Rashida, M. et al. (2021). A quantitative evaluation of university websites in Bangladesh. Computers, 10(5), 57.</a:t>
            </a:r>
            <a:endParaRPr/>
          </a:p>
        </p:txBody>
      </p:sp>
      <p:sp>
        <p:nvSpPr>
          <p:cNvPr id="771" name="Google Shape;771;p41"/>
          <p:cNvSpPr/>
          <p:nvPr/>
        </p:nvSpPr>
        <p:spPr>
          <a:xfrm>
            <a:off x="457200" y="19659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1"/>
          <p:cNvSpPr txBox="1"/>
          <p:nvPr/>
        </p:nvSpPr>
        <p:spPr>
          <a:xfrm>
            <a:off x="512064" y="20162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P3</a:t>
            </a:r>
            <a:endParaRPr/>
          </a:p>
        </p:txBody>
      </p:sp>
      <p:sp>
        <p:nvSpPr>
          <p:cNvPr id="773" name="Google Shape;773;p41"/>
          <p:cNvSpPr txBox="1"/>
          <p:nvPr/>
        </p:nvSpPr>
        <p:spPr>
          <a:xfrm>
            <a:off x="932688" y="19568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Saleh, A. et al. (2022). A quality model for university websites. Indonesian Journal of Electrical Engineering and Computer Science, 25(1), 511–520.</a:t>
            </a:r>
            <a:endParaRPr/>
          </a:p>
        </p:txBody>
      </p:sp>
      <p:sp>
        <p:nvSpPr>
          <p:cNvPr id="774" name="Google Shape;774;p41"/>
          <p:cNvSpPr/>
          <p:nvPr/>
        </p:nvSpPr>
        <p:spPr>
          <a:xfrm>
            <a:off x="457200" y="24231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1"/>
          <p:cNvSpPr txBox="1"/>
          <p:nvPr/>
        </p:nvSpPr>
        <p:spPr>
          <a:xfrm>
            <a:off x="512064" y="24734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P4</a:t>
            </a:r>
            <a:endParaRPr/>
          </a:p>
        </p:txBody>
      </p:sp>
      <p:sp>
        <p:nvSpPr>
          <p:cNvPr id="776" name="Google Shape;776;p41"/>
          <p:cNvSpPr txBox="1"/>
          <p:nvPr/>
        </p:nvSpPr>
        <p:spPr>
          <a:xfrm>
            <a:off x="932688" y="24140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Biyyapu, S. et al. (2023). Machine learning for website completeness assessment. Computers, 12(9), 181.</a:t>
            </a:r>
            <a:endParaRPr/>
          </a:p>
        </p:txBody>
      </p:sp>
      <p:sp>
        <p:nvSpPr>
          <p:cNvPr id="777" name="Google Shape;777;p41"/>
          <p:cNvSpPr/>
          <p:nvPr/>
        </p:nvSpPr>
        <p:spPr>
          <a:xfrm>
            <a:off x="457200" y="28803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1"/>
          <p:cNvSpPr txBox="1"/>
          <p:nvPr/>
        </p:nvSpPr>
        <p:spPr>
          <a:xfrm>
            <a:off x="512064" y="29306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P5</a:t>
            </a:r>
            <a:endParaRPr/>
          </a:p>
        </p:txBody>
      </p:sp>
      <p:sp>
        <p:nvSpPr>
          <p:cNvPr id="779" name="Google Shape;779;p41"/>
          <p:cNvSpPr txBox="1"/>
          <p:nvPr/>
        </p:nvSpPr>
        <p:spPr>
          <a:xfrm>
            <a:off x="932688" y="28712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Ranking Web of Universities (Webometrics). Methodology. https://www.webometrics.info</a:t>
            </a:r>
            <a:endParaRPr/>
          </a:p>
        </p:txBody>
      </p:sp>
      <p:sp>
        <p:nvSpPr>
          <p:cNvPr id="780" name="Google Shape;780;p41"/>
          <p:cNvSpPr/>
          <p:nvPr/>
        </p:nvSpPr>
        <p:spPr>
          <a:xfrm>
            <a:off x="457200" y="33375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1"/>
          <p:cNvSpPr txBox="1"/>
          <p:nvPr/>
        </p:nvSpPr>
        <p:spPr>
          <a:xfrm>
            <a:off x="512064" y="33878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P6</a:t>
            </a:r>
            <a:endParaRPr/>
          </a:p>
        </p:txBody>
      </p:sp>
      <p:sp>
        <p:nvSpPr>
          <p:cNvPr id="782" name="Google Shape;782;p41"/>
          <p:cNvSpPr txBox="1"/>
          <p:nvPr/>
        </p:nvSpPr>
        <p:spPr>
          <a:xfrm>
            <a:off x="932688" y="33284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Lundberg, S. M. &amp; Lee, S.-I. (2017). A unified approach to interpreting model predictions. Advances in Neural Information Processing Systems, 30, 4765–4774.</a:t>
            </a:r>
            <a:endParaRPr/>
          </a:p>
        </p:txBody>
      </p:sp>
      <p:sp>
        <p:nvSpPr>
          <p:cNvPr id="783" name="Google Shape;783;p41"/>
          <p:cNvSpPr/>
          <p:nvPr/>
        </p:nvSpPr>
        <p:spPr>
          <a:xfrm>
            <a:off x="457200" y="37947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1"/>
          <p:cNvSpPr txBox="1"/>
          <p:nvPr/>
        </p:nvSpPr>
        <p:spPr>
          <a:xfrm>
            <a:off x="512064" y="38450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P7</a:t>
            </a:r>
            <a:endParaRPr/>
          </a:p>
        </p:txBody>
      </p:sp>
      <p:sp>
        <p:nvSpPr>
          <p:cNvPr id="785" name="Google Shape;785;p41"/>
          <p:cNvSpPr txBox="1"/>
          <p:nvPr/>
        </p:nvSpPr>
        <p:spPr>
          <a:xfrm>
            <a:off x="932688" y="37856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Ke, G. et al. (2017). LightGBM: a highly efficient gradient boosting decision tree. Advances in Neural Information Processing Systems, 30, 3146–3154.</a:t>
            </a:r>
            <a:endParaRPr/>
          </a:p>
        </p:txBody>
      </p:sp>
      <p:sp>
        <p:nvSpPr>
          <p:cNvPr id="786" name="Google Shape;786;p41"/>
          <p:cNvSpPr/>
          <p:nvPr/>
        </p:nvSpPr>
        <p:spPr>
          <a:xfrm>
            <a:off x="457200" y="4251960"/>
            <a:ext cx="365760" cy="237744"/>
          </a:xfrm>
          <a:prstGeom prst="roundRect">
            <a:avLst>
              <a:gd fmla="val 8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1"/>
          <p:cNvSpPr txBox="1"/>
          <p:nvPr/>
        </p:nvSpPr>
        <p:spPr>
          <a:xfrm>
            <a:off x="512064" y="430225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P8</a:t>
            </a:r>
            <a:endParaRPr/>
          </a:p>
        </p:txBody>
      </p:sp>
      <p:sp>
        <p:nvSpPr>
          <p:cNvPr id="788" name="Google Shape;788;p41"/>
          <p:cNvSpPr txBox="1"/>
          <p:nvPr/>
        </p:nvSpPr>
        <p:spPr>
          <a:xfrm>
            <a:off x="932688" y="4242816"/>
            <a:ext cx="77541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Pedregosa, F. et al. (2011). Scikit-learn: machine learning in Python. Journal of Machine Learning Research, 12, 2825–2830.</a:t>
            </a:r>
            <a:endParaRPr/>
          </a:p>
        </p:txBody>
      </p:sp>
      <p:sp>
        <p:nvSpPr>
          <p:cNvPr id="789" name="Google Shape;789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 txBox="1"/>
          <p:nvPr>
            <p:ph type="ctrTitle"/>
          </p:nvPr>
        </p:nvSpPr>
        <p:spPr>
          <a:xfrm>
            <a:off x="457200" y="1874519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US" sz="4200">
                <a:solidFill>
                  <a:srgbClr val="21212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Thank You</a:t>
            </a:r>
            <a:endParaRPr/>
          </a:p>
        </p:txBody>
      </p:sp>
      <p:sp>
        <p:nvSpPr>
          <p:cNvPr id="795" name="Google Shape;795;p42"/>
          <p:cNvSpPr txBox="1"/>
          <p:nvPr>
            <p:ph idx="1" type="subTitle"/>
          </p:nvPr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5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Questions &amp; Discussion</a:t>
            </a:r>
            <a:endParaRPr/>
          </a:p>
        </p:txBody>
      </p:sp>
      <p:sp>
        <p:nvSpPr>
          <p:cNvPr id="796" name="Google Shape;796;p42"/>
          <p:cNvSpPr/>
          <p:nvPr/>
        </p:nvSpPr>
        <p:spPr>
          <a:xfrm>
            <a:off x="3977639" y="2743200"/>
            <a:ext cx="1188720" cy="54864"/>
          </a:xfrm>
          <a:prstGeom prst="rect">
            <a:avLst/>
          </a:prstGeom>
          <a:solidFill>
            <a:srgbClr val="E4E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